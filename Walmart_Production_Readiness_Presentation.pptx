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720000">
            <a:off x="5029200" y="-914400"/>
            <a:ext cx="5486400" cy="109728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720000">
            <a:off x="4572000" y="457200"/>
            <a:ext cx="6400800" cy="3657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720000">
            <a:off x="5943600" y="1097280"/>
            <a:ext cx="4572000" cy="1371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WALMART × PORT POC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Readiness,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Standardized.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097280" cy="54864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12,000 developers   ·   10 global hubs   ·   one source of truth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7091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PRESENTER NAME ]   ·   TSM / TSE HOME ASSIGNMENT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Engineering &amp; Developer Experience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3840480" cy="123444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20240"/>
            <a:ext cx="73152" cy="12344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1408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21214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ENGINEERING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822960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Golden paths, not gatekeepers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26883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internal paved roads that let developers ship faster — with built-in guardrails instead of approval bottlenecks.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54880" y="1920240"/>
            <a:ext cx="3840480" cy="123444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54880" y="1920240"/>
            <a:ext cx="73152" cy="12344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121408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40680" y="21214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DEVELOPER PORTALS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5029200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pane of glass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029200" y="26883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Services, ownership, standards, and self-service actions all live in one place — replacing 10 disjointed tools.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3840480" cy="123444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48640" y="3337560"/>
            <a:ext cx="73152" cy="12344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38728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34440" y="35387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DEVELOPER EXPERIENCE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822960" y="37947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the right thing easy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22960" y="41056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how easily developers can discover, build, deploy, and operate software — every day, at scale.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3337560"/>
            <a:ext cx="3840480" cy="123444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54880" y="3337560"/>
            <a:ext cx="73152" cy="12344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538728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440680" y="35387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IT MATTERS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5029200" y="37947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faster · 60% fewer incidents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5029200" y="41056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Gartner: orgs with mature platform engineering see significantly faster lead time and far fewer production incidents.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production readiness at scale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4023360" cy="274320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4023360" cy="411480"/>
          </a:xfrm>
          <a:prstGeom prst="rect">
            <a:avLst/>
          </a:prstGeom>
          <a:solidFill>
            <a:srgbClr val="0F0E17"/>
          </a:solidFill>
          <a:ln w="12700">
            <a:solidFill>
              <a:srgbClr val="0F0E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385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WALMART'S REALITY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8716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423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12,000 developers across 10 global hubs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9008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926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Hundreds of microservices shipping daily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9300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29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hub defines "production ready" differently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9592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931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centralized visibility into maturity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920240"/>
            <a:ext cx="4023360" cy="274320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920240"/>
            <a:ext cx="4023360" cy="41148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9385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IMPACT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2423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Incidents spike during Black Friday peaks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299008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926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MTTR varies 3–5× across hubs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49300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3429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team: 40%+ time on manual reviews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3995928"/>
            <a:ext cx="91440" cy="91440"/>
          </a:xfrm>
          <a:prstGeom prst="ellipse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4920" y="3931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Compliance drift — teams pass, then regress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 IT AFFECTS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 Points Across the Org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8229600" cy="475488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91440" cy="475488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DEVELOPERS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2024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production ready even mean for my service?"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87168"/>
            <a:ext cx="8229600" cy="475488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87168"/>
            <a:ext cx="91440" cy="47548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8716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LEADS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24871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checklists, inconsistent enforcement across hubs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54096"/>
            <a:ext cx="8229600" cy="475488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054096"/>
            <a:ext cx="91440" cy="47548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5409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ENGINEERS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305409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Bottlenecked — reviewing hundreds of services manually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21024"/>
            <a:ext cx="8229600" cy="475488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21024"/>
            <a:ext cx="91440" cy="475488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62102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VP ENGINEERING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362102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 into org-wide production readiness posture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87952"/>
            <a:ext cx="8229600" cy="475488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87952"/>
            <a:ext cx="91440" cy="47548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8795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SRES / ON-CALL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418795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Paged for incidents on services that skipped checks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BUSINESS CASE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 is Revenue Protection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11680"/>
            <a:ext cx="1965960" cy="2194560"/>
          </a:xfrm>
          <a:prstGeom prst="rect">
            <a:avLst/>
          </a:prstGeom>
          <a:solidFill>
            <a:srgbClr val="1F1D2F"/>
          </a:solidFill>
          <a:ln w="12700">
            <a:solidFill>
              <a:srgbClr val="1F1D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1965960" cy="73152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$13M+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HOUR OF DOWNTIME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during peak retail events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51760" y="2011680"/>
            <a:ext cx="1965960" cy="2194560"/>
          </a:xfrm>
          <a:prstGeom prst="rect">
            <a:avLst/>
          </a:prstGeom>
          <a:solidFill>
            <a:srgbClr val="1F1D2F"/>
          </a:solidFill>
          <a:ln w="12700">
            <a:solidFill>
              <a:srgbClr val="1F1D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51760" y="2011680"/>
            <a:ext cx="1965960" cy="7315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2240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D1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278892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TEAM CAPACITY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788920" y="3611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consumed by manual reviews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2011680"/>
            <a:ext cx="1965960" cy="2194560"/>
          </a:xfrm>
          <a:prstGeom prst="rect">
            <a:avLst/>
          </a:prstGeom>
          <a:solidFill>
            <a:srgbClr val="1F1D2F"/>
          </a:solidFill>
          <a:ln w="12700">
            <a:solidFill>
              <a:srgbClr val="1F1D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2011680"/>
            <a:ext cx="1965960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2240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498348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INCIDENT RATE VARIATION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83480" y="3611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vs. weak standards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040880" y="2011680"/>
            <a:ext cx="1965960" cy="2194560"/>
          </a:xfrm>
          <a:prstGeom prst="rect">
            <a:avLst/>
          </a:prstGeom>
          <a:solidFill>
            <a:srgbClr val="1F1D2F"/>
          </a:solidFill>
          <a:ln w="12700">
            <a:solidFill>
              <a:srgbClr val="1F1D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0" y="2011680"/>
            <a:ext cx="1965960" cy="73152"/>
          </a:xfrm>
          <a:prstGeom prst="rect">
            <a:avLst/>
          </a:prstGeom>
          <a:solidFill>
            <a:srgbClr val="FFFFFE"/>
          </a:solidFill>
          <a:ln w="12700">
            <a:solidFill>
              <a:srgbClr val="FFFF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2240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1%</a:t>
            </a:r>
            <a:endParaRPr lang="en-US" sz="4600" dirty="0"/>
          </a:p>
        </p:txBody>
      </p:sp>
      <p:sp>
        <p:nvSpPr>
          <p:cNvPr id="25" name="Text 23"/>
          <p:cNvSpPr/>
          <p:nvPr/>
        </p:nvSpPr>
        <p:spPr>
          <a:xfrm>
            <a:off x="717804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3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RELIABILITY = REVENUE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178040" y="3611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improvement protected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AVOIDED OUTAGE PAYS FOR THE PLATFORM.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7A9B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7A9B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Production Readiness Works Now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320040" cy="3200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finishes feature → "Are we prod ready?"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20040" cy="3200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lead checks a local hub-specific wiki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788920"/>
            <a:ext cx="320040" cy="3200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88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review across monitoring, docs, security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246120"/>
            <a:ext cx="320040" cy="3200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is subjective — depends on the reviewer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deploys; gaps discovered via incidents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320040" cy="32004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surfaces gaps → ad hoc fixes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SOURCE OF TRUTH   ·   NO AUTOMATION   ·   NO ENFORCEMENT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 PORT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Automated, Continuous, Self-Service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 auto-ingested into Port catalog from GitHub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Walmart Production Readiness Scorecard runs 24/7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7889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88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Developers see their score in real-time, with gaps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2461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46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Self-service action requests review without blockers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Dashboards give leadership org-wide visibility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320040" cy="32004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gating enforces standards before deployment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SOURCE OF TRUTH   ·   AUTOMATED EVALUATION   ·   DEV AUTONOMY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BUILT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Components in 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4023360" cy="12801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292608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Integration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560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microservice repos auto-synced. README, CODEOWNERS, CI workflows ingested.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920240"/>
            <a:ext cx="4023360" cy="12801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846320" y="21031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8892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80644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Walmart Production Readiness Scorecard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806440" y="25603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custom rules across Silver and Gold tiers. Continuously evaluated per service.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3337560"/>
            <a:ext cx="4023360" cy="12801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640080" y="352044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8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06240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566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 Prod Review Action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600200" y="39776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Day-2 self-service action using UPSERT_ENTITY. No backend required.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663440" y="3337560"/>
            <a:ext cx="4023360" cy="12801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4846320" y="352044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8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06240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806440" y="3566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 Dashboard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806440" y="39776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services, Gold path, and Needs Attention — with embedded action card.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SCORECARD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Walmart Production Readiness — 3 Rules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74520"/>
            <a:ext cx="8229600" cy="86868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solidFill>
            <a:srgbClr val="E04E40"/>
          </a:solidFill>
          <a:ln w="12700">
            <a:solidFill>
              <a:srgbClr val="E04E4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200253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BASIC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Starting point — no Walmart rules passed yet</a:t>
            </a:r>
            <a:endParaRPr lang="en-US" sz="8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011680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14600" y="196596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Default level — every new service begins here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880360"/>
            <a:ext cx="8229600" cy="86868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80360"/>
            <a:ext cx="1463040" cy="8686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175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51560" y="300837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0080" y="33832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Operationally sound</a:t>
            </a:r>
            <a:endParaRPr lang="en-US" sz="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0" y="3017520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514600" y="2971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Monitoring (Datadog) — property: hasMonitoring = true</a:t>
            </a:r>
            <a:endParaRPr lang="en-US" sz="11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401568"/>
            <a:ext cx="201168" cy="2011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514600" y="33558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Critical Vulnerabilities (Snyk) — property: criticalVulns ≤ 0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57200" y="3886200"/>
            <a:ext cx="1463040" cy="8686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02336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051560" y="40142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0080" y="4389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F0E1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Production-ready, excellence</a:t>
            </a:r>
            <a:endParaRPr lang="en-US" sz="8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4560" y="4023360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2514600" y="39776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 On-Call Runbook — property: hasRunbook = true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31" name="Text 22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DEVELOPER AUTONOMY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Request Production Readiness Review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4023360" cy="274320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73152" cy="274320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ACTION CONFIGURATION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  </a:t>
            </a:r>
            <a:pPr indent="0" marL="0">
              <a:buNone/>
            </a:pPr>
            <a:r>
              <a:rPr lang="en-US" sz="1100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Day-2  ·  operates on existing service
</a:t>
            </a:r>
            <a:pPr indent="0" marL="0">
              <a:buNone/>
            </a:pPr>
            <a:r>
              <a:rPr lang="en-US" sz="11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   </a:t>
            </a:r>
            <a:pPr indent="0" marL="0">
              <a:buNone/>
            </a:pPr>
            <a:r>
              <a:rPr lang="en-US" sz="1100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clicks "Request Prod Review"
</a:t>
            </a:r>
            <a:pPr indent="0" marL="0">
              <a:buNone/>
            </a:pPr>
            <a:r>
              <a:rPr lang="en-US" sz="11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Inputs
</a:t>
            </a:r>
            <a:pPr indent="0" marL="0">
              <a:buNone/>
            </a:pPr>
            <a:r>
              <a:rPr lang="en-US" sz="1100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Target Level — Bronze | Silver | Gold
</a:t>
            </a:r>
            <a:pPr indent="0" marL="0">
              <a:buNone/>
            </a:pPr>
            <a:r>
              <a:rPr lang="en-US" sz="1100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·  Notes — free-text context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4023360" cy="2743200"/>
          </a:xfrm>
          <a:prstGeom prst="rect">
            <a:avLst/>
          </a:prstGeom>
          <a:solidFill>
            <a:srgbClr val="0F0E17"/>
          </a:solidFill>
          <a:ln w="12700">
            <a:solidFill>
              <a:srgbClr val="0F0E1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920240"/>
            <a:ext cx="73152" cy="2743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HAPPENS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9204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Entity updated: reviewRequested = true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926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9496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targetLevel set from developer input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34290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9496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reviewNotes stored for platform team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39319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9496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Future: webhook → Slack + Jira ticket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Developers get autonomy. Platform teams get structured requests.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914400" y="4114800"/>
            <a:ext cx="7315200" cy="91440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5486400" y="4389120"/>
            <a:ext cx="5486400" cy="2743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Walking Through Port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31520" cy="457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423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4231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CATALOG — 5 Walmart microservices ingested from GitHub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7889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DEEP DIVE — Gold vs. Basic side-by-side comparison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1546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SCORECARD — Walmart Production Readiness rules in action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520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5204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SELF-SERVICE — Trigger 'Request Prod Review' live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886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8862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— All services, Gold path, needs attention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7A9B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7A9B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MEASURABLE RESULTS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Outcomes in 6 Months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74520"/>
            <a:ext cx="8229600" cy="384048"/>
          </a:xfrm>
          <a:prstGeom prst="rect">
            <a:avLst/>
          </a:prstGeom>
          <a:solidFill>
            <a:srgbClr val="0F0E17"/>
          </a:solidFill>
          <a:ln w="12700">
            <a:solidFill>
              <a:srgbClr val="0F0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874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7A9B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 PORT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63640" y="1874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PORT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solidFill>
            <a:srgbClr val="FFFFFE"/>
          </a:solidFill>
          <a:ln w="381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31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 compliance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~35% of services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63640" y="2331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80%+ of services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411480"/>
          </a:xfrm>
          <a:prstGeom prst="rect">
            <a:avLst/>
          </a:prstGeom>
          <a:solidFill>
            <a:srgbClr val="F5EFE1"/>
          </a:solidFill>
          <a:ln w="381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review time per service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2–4 hours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 min (automated)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8229600" cy="411480"/>
          </a:xfrm>
          <a:prstGeom prst="rect">
            <a:avLst/>
          </a:prstGeom>
          <a:solidFill>
            <a:srgbClr val="FFFFFE"/>
          </a:solidFill>
          <a:ln w="381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team capacity on reviews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40%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6364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&lt;10%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03320"/>
            <a:ext cx="8229600" cy="411480"/>
          </a:xfrm>
          <a:prstGeom prst="rect">
            <a:avLst/>
          </a:prstGeom>
          <a:solidFill>
            <a:srgbClr val="F5EFE1"/>
          </a:solidFill>
          <a:ln w="3810">
            <a:solidFill>
              <a:srgbClr val="D8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rate from readiness gaps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50% reduction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solidFill>
            <a:srgbClr val="FFFFFE"/>
          </a:solidFill>
          <a:ln w="3810">
            <a:solidFill>
              <a:srgbClr val="D8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160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time-to-deploy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Days (waiting)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Hours (self-serve)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FEWER INCIDENTS   ·   FASTER DEPLOYS   ·   RECLAIMED CAPACITY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50292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457200" y="-365760"/>
            <a:ext cx="4114800" cy="73152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7315200" y="-548640"/>
            <a:ext cx="320040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Extending the POC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" cy="36576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7452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055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Kubernetes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313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 clusters, namespaces, deployments per hub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87452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187452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130552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94960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Snyk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394960" y="2313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Real-time vulnerability scoring directly in scorecard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90672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Datadog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88720" y="3273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Auto-validate monitoring + alerting coverage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663440" y="283464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6634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90672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94960" y="29992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Gating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394960" y="3273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Block deploys below Bronze tier in GitHub Actions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57200" y="379476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57200" y="379476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050792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887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Scorecards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1188720" y="4233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Security, Cost, Documentation — layered on top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4663440" y="3794760"/>
            <a:ext cx="4023360" cy="822960"/>
          </a:xfrm>
          <a:prstGeom prst="rect">
            <a:avLst/>
          </a:prstGeom>
          <a:solidFill>
            <a:srgbClr val="FFFFFE"/>
          </a:solidFill>
          <a:ln w="6350">
            <a:solidFill>
              <a:srgbClr val="D8D2C4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663440" y="379476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4050792"/>
            <a:ext cx="320040" cy="32004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39496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10-Hub Rollout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5394960" y="4233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Hub-specific dashboards for regional leadership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457200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WALMART × PORT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8229600" y="4846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555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480000">
            <a:off x="-914400" y="3657600"/>
            <a:ext cx="7315200" cy="1097280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480000">
            <a:off x="5486400" y="4114800"/>
            <a:ext cx="5486400" cy="3657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480000">
            <a:off x="6400800" y="4663440"/>
            <a:ext cx="4572000" cy="1371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6B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i="1" dirty="0">
                <a:solidFill>
                  <a:srgbClr val="FFFFF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7280" cy="54864"/>
          </a:xfrm>
          <a:prstGeom prst="rect">
            <a:avLst/>
          </a:prstGeom>
          <a:solidFill>
            <a:srgbClr val="FF6B5C"/>
          </a:solidFill>
          <a:ln w="12700">
            <a:solidFill>
              <a:srgbClr val="FF6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80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7A9B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discuss.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FFF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PRESENTER NAME ]   ·   [ EMAIL 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Production Readiness — Port</dc:title>
  <dc:subject>PptxGenJS Presentation</dc:subject>
  <dc:creator>Kaylah Gore</dc:creator>
  <cp:lastModifiedBy>Kaylah Gore</cp:lastModifiedBy>
  <cp:revision>1</cp:revision>
  <dcterms:created xsi:type="dcterms:W3CDTF">2026-05-18T07:20:22Z</dcterms:created>
  <dcterms:modified xsi:type="dcterms:W3CDTF">2026-05-18T07:20:22Z</dcterms:modified>
</cp:coreProperties>
</file>