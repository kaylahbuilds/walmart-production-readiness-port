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5943600" y="-457200"/>
            <a:ext cx="4114800" cy="2286000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6858000" y="-914400"/>
            <a:ext cx="3657600" cy="1828800"/>
          </a:xfrm>
          <a:prstGeom prst="rect">
            <a:avLst/>
          </a:prstGeom>
          <a:solidFill>
            <a:srgbClr val="0EA5E9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Driving Production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 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 x  Port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Standardizing Quality Across 12,000 Developers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  |  TSM / TSE Home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Engineering &amp; Developer Experience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Engineering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1874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golden paths that let developers ship faster with guardrails — not gatekeepers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54880" y="11887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1887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173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Developer Portals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83480" y="1874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pane of glass for services, ownership, standards, and self-service actions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30175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46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 Experience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7724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developers can discover, build, deploy, and operate software day-to-day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754880" y="30175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0175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2461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98348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faster lead time and 60% fewer incidents with mature platform engineering (Gartner)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Problem: Inconsistent Production Readiness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155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Walmart's Reality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 developers across 10 global hubs (US, Mexico, India, Chile, etc.)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microservices shipping daily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hub has evolved its own definition of "production ready"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visibility into service maturity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155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Impact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spike during peak events (Black Friday, Holiday Season)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varies 3-5x across hubs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 spends 40%+ time on manual reviews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drift — teams pass reviews then regress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Stakeholders &amp; Pain Points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430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14300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does production ready even mean for my service?"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8046720" cy="621792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847088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9280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Leads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34640" y="1892808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checklists, inconsistent enforcement across hubs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96896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96896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64261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Engineers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2642616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— reviewing hundreds of services manually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46704"/>
            <a:ext cx="8046720" cy="621792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346704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3924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 Engineering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34640" y="3392424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org-wide production readiness posture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96512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096512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1422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SREs / On-Call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34640" y="4142232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Paged for incidents on services that skipped readiness checks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Case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$13M+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hour of downtime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peak retail events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6032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69748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platform team capacity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consumed by manual reviews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3x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89204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in incident rates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vs. weak standards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944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708660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in reliability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measurable revenue protection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3B82F6">
              <a:alpha val="8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isn't a nice-to-have — it's revenue protection.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State: How It Works Today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1097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finishes feature, asks team lead: "Are we prod ready?"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6642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references a local wiki or checklist (varies by hub)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276856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76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231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— checking monitoring, docs, security scans ad hoc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8437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7980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subjective — depends on who reviews and when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33649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deploys — gaps discovered in production via incidents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97764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3931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 identifies missing standards — ad hoc fixes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F4444">
              <a:alpha val="90000"/>
            </a:srgbClr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626864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00584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source of truth.  No automation.  No enforcement.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Proposed State: Automated with 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1097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auto-ingested into Port catalog via GitHub integration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6642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Scorecard evaluates every service continuously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276856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76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231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see their score in real-time — clear gaps, actionable next steps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843784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7980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actions let developers fix gaps without waiting on platform team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33649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give leadership org-wide visibility by team, hub, and tier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97764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3931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Scorecards enforce standards — no deployment without Bronze minimum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10B981">
              <a:alpha val="90000"/>
            </a:srgbClr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626864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00584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truth.  Automated evaluation.  Developer autonomy.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Design in 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Integration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1920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microservice repos auto-synced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CODEOWNERS, CI workflows ingested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1430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32588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17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Walmart Production Readiness Scorecard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029200" y="1920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Walmart-specific rules (Silver + Gold)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Auto-evaluated continuously per service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06324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375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Prod Review Action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31520" y="3840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Day-2 action, UPSERT_ENTITY (no backend)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self-service triggers update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06324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375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Readiness Dashboard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029200" y="3840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+ Gold path + Needs attention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self-service action card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Readiness Scorecard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CD7F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344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Basic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481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— no Walmart rules passed yet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2801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 for every new service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3774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" y="2377440"/>
            <a:ext cx="73152" cy="1097280"/>
          </a:xfrm>
          <a:prstGeom prst="rect">
            <a:avLst/>
          </a:prstGeom>
          <a:solidFill>
            <a:srgbClr val="9CA3A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468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Silver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280160" y="2761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Sound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256032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84048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Monitoring (Datadog)   —   property: hasMonitoring = true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297180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4048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Critical Vulnerabilities (Snyk)   —   property: criticalVulns &lt;= 0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457200" y="365760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794760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280160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</a:t>
            </a:r>
            <a:endParaRPr lang="en-US" sz="1800" dirty="0"/>
          </a:p>
        </p:txBody>
      </p:sp>
      <p:sp>
        <p:nvSpPr>
          <p:cNvPr id="24" name="Text 16"/>
          <p:cNvSpPr/>
          <p:nvPr/>
        </p:nvSpPr>
        <p:spPr>
          <a:xfrm>
            <a:off x="1280160" y="4041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 — production-ready</a:t>
            </a:r>
            <a:endParaRPr lang="en-US" sz="10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3840480"/>
            <a:ext cx="228600" cy="2286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84048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On-Call Runbook   —   property: hasRunbook = true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Self-Service Action: Request Prod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Configuration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DAY-2 (operates on existing service)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clicks "Request Prod Review"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Inputs: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Service (auto-populated)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 Level: Bronze | Silver | Gold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Notes: Free text for context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74920" y="182880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2120" y="1783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entity: reviewRequested = true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74920" y="242316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targetLevel from developer input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74920" y="301752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reviewNotes for the platform team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74920" y="361188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32120" y="3566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webhook to Slack + Jira ticket creation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4160520"/>
            <a:ext cx="3931920" cy="457200"/>
          </a:xfrm>
          <a:prstGeom prst="rect">
            <a:avLst/>
          </a:prstGeom>
          <a:solidFill>
            <a:srgbClr val="3B82F6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4160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get autonomy. Platform teams get structured requests.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Walkthrough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9728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— 5 Walmart microservices ingested from GitHub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deep-dive — Gold vs. Basic (Checkout vs. Search)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— Walmart Production Readiness rules in 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— Trigger 'Request Prod Review' live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4572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Org-wide view, gold path, needs attention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to live Port environment...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 Outcomes &amp; Measurable Results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Before Port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After Port (6 months)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readiness compliance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~35% of services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80%+ of services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review time per 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2-4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(automated)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team capacity on reviews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rate from readiness gaps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reduction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time-to-deploy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(waiting on reviews)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(self-service)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3B82F6">
              <a:alpha val="9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Measurable reduction in incidents, faster deployments, and reclaimed platform team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Next: Extending the POC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0972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Kubernetes integration — map clusters, namespaces, deployments per hub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173736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Snyk for real-time vulnerability scoring in the scorecard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7744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37744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Datadog for monitoring and alerting validation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301752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0175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deployment gating — require Bronze+ before production via CI/CD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365760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74904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36576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scorecards: Security Readiness, Cost Optimization, Docs Coverage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3891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188720" y="42976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across all 10 hubs with hub-specific dashboards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5943600" y="3200400"/>
            <a:ext cx="4114800" cy="2286000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6858000" y="3657600"/>
            <a:ext cx="3657600" cy="1828800"/>
          </a:xfrm>
          <a:prstGeom prst="rect">
            <a:avLst/>
          </a:prstGeom>
          <a:solidFill>
            <a:srgbClr val="0EA5E9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  |  [Email]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Driving Production Readiness at Scale — Walmart x Port</dc:title>
  <dc:subject>PptxGenJS Presentation</dc:subject>
  <dc:creator>Kaylah Gore</dc:creator>
  <cp:lastModifiedBy>Kaylah Gore</cp:lastModifiedBy>
  <cp:revision>1</cp:revision>
  <dcterms:created xsi:type="dcterms:W3CDTF">2026-05-18T06:53:02Z</dcterms:created>
  <dcterms:modified xsi:type="dcterms:W3CDTF">2026-05-18T06:53:02Z</dcterms:modified>
</cp:coreProperties>
</file>