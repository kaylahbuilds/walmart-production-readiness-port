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30 seconds
"Good [morning/afternoon]. Today I'm going to walk you through how Port can help Walmart standardize production readiness across 12,000 developers and 10 global engineering hubs.
This is a real, high-stakes pain point at Walmart's scale — and I'll show you a working prototype I built in Port that demonstrates the approach.
Quick agenda: I'll cover what Platform Engineering and DevEx mean, the specific Walmart use case, the current vs. proposed workflow, then a live demo of the Port environment, and we'll close with the expected business outcomes."
DELIVERY TIPS:
- Speak slowly and confidently
- Make eye contact across the room
- Don't rush — you have 30-60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ENGINEERING &amp; DEVEX — 5 minutes
"Before diving into the specific use case, let's align on what platform engineering actually is and why it matters at scale.
Platform Engineering is about building internal golden paths — paved roads that let developers ship faster while staying within guardrails. It's not about gatekeeping; it's about making the right thing the easy thing.
Internal Developer Portals like Port are the interface layer. They give developers one place to see their services, understand ownership, check compliance status, and take actions — instead of bouncing between 10 different tools.
Developer Experience is the metric we're optimizing. Can a developer discover what they need, build confidently, deploy safely, and operate effectively? If any of those steps are painful, velocity drops.
The business impact is real: Gartner research shows organizations with mature platform engineering see significantly faster lead times and far fewer production incidents."
TRANSITION: "So with that context, let's look at the specific problem Walmart 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3 minutes
"Walmart is one of the largest engineering organizations in the world. 12,000 developers across 10 global hubs — from Bentonville to Bangalore to Santiago.
Each hub has organically evolved its own standards. What 'production ready' means in Sunnyvale might be completely different from what it means in Bangalore.
There's no centralized visibility. If you're a VP of Engineering asking 'how production-ready are we?' — nobody can confidently answer that question.
The impact is tangible: incidents spike during the moments that matter most — Black Friday, holiday season. MTTR — mean time to recovery — varies 3 to 5 times across hubs based on their local standards.
And platform teams are drowning — spending more than 40% of their time on manual reviews that simply don't scale at 12,000 developers."
TRANSITION: "Let's look at who specifically feels this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STAKEHOLDERS — 2 minutes
"This isn't just a platform team problem — it touches every layer of the organization.
[Walk through each stakeholder briefly]
Developers genuinely don't know what's expected of them — different hubs, different checklists, different reviewers.
Team Leads carry the burden of subjective enforcement — they're not trained reviewers but they're the gatekeepers.
Platform Engineers are the bottleneck — there's no way 50 platform engineers can manually review services for 12,000 developers.
VPs and leadership have zero visibility — they cannot answer board-level questions about engineering health.
SREs pay the price downstream — they're paged at 3am for incidents on services that should never have shipped."
TRANSITION: "And when you look at the numbers, the business case makes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CASE — 2 minutes
"Let me put real numbers to this.
$13 million plus per hour of downtime — that's the industry estimate for large retailers during peak events. For Walmart, even a fraction of that justifies investment in production readiness tooling.
40 percent of platform team capacity is a massive number. That's almost half their team doing work that could be automated. That's reclaimable engineering time.
The 3x variation in incident rates is the killer stat — it proves that standards work when they're enforced, and the gap is massive when they're not. Hubs with strong standards have 3 to 5 times fewer incidents than hubs without.
And the framing I want to leave you with: production readiness isn't a nice-to-have. It's revenue protection. One avoided outage during Black Friday literally pays for the entire platform."
TRANSITION: "So let me show you how this process works today, and then what it looks like with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FLOWCHART — 5 minutes (this is the visual heart of the presentation)
"Here's the side-by-side. On the left is how this works at Walmart today. On the right is what it looks like with Port."
WALK THROUGH THE LEFT COLUMN FIRST:
"At every step there's a human, there's judgment, and there's variability. Step 2 is the critical weakness — the checklist varies by hub. There's no single standard. Step 4: approval depends on who reviews. A senior engineer catches things a junior misses. Step 5 is the failure mode — problems discovered in production, not before deployment. Then we go back to step 1 with the next service. The cycle never breaks."
PAUSE, THEN WALK THROUGH THE RIGHT COLUMN:
"Same six steps, completely different approach.
Step 1: services are auto-ingested — no manual catalog maintenance.
Step 2: the scorecard runs continuously. It's not a one-time review, it's always evaluating.
Step 3: developers see their own score. This is the key shift — from 'ask someone' to 'I can see it myself.'
Step 4: self-service means developers fix gaps proactively, without waiting for platform team bandwidth.
Step 5: leadership gets dashboards — the VP can finally answer 'how ready are we?'
Step 6: you can even enforce minimums — no deployment without Bronze."
"The arrow in the middle isn't decoration — it represents a fundamental shift from reactive to proactive, from manual to automated, from gatekeeping to enablement."
TRANSITION: "Let me show you what I actually built in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ARCHITECTURE — 2 minutes
"Here's the architecture of what I built. Four components, all working together.
GitHub integration pulls in the service catalog automatically. I created 5 Walmart microservice repos — checkout, inventory, payment, notification, search — each with realistic variation in README, CODEOWNERS, and CI workflow files.
The Walmart Production Readiness Scorecard evaluates every service against three custom rules. I'll show those next.
The self-service action lets developers request reviews. It's a Day-2 action using Port's UPSERT_ENTITY backend — no Lambda, no webhook, no infrastructure to maintain.
The dashboard ties it all together with three live tables and an embedded action card."
TRANSITION: "Let me go deeper on the scorecard, since that's the heart of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SCORECARD DEEP DIVE — 3 minutes
"The scorecard has three tiers tied directly to Walmart's stack.
BASIC is the default — every new service starts here. No rules passed yet.
SILVER adds operational maturity — two rules. First, Has Monitoring — meaning Datadog is configured. Walmart's stack explicitly includes Datadog, so this maps to their real tooling. Second, No Critical Vulnerabilities — meaning Snyk shows zero criticals. Again, Snyk is in Walmart's stack. This is where you prevent incidents.
GOLD is excellence — one final rule. Has On-Call Runbook. This is what separates services that recover quickly from services that have hour-long outages. It directly reduces MTTR.
Emphasize: these are based on real, queryable properties — not subjective judgment. And Walmart could easily customize them — maybe add data residency rules for India, GDPR rules for Europe. The scorecard model is flexible."
TRANSITION: "And when a developer sees they're not at their target level, here's what they can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SELF-SERVICE ACTION — 2 minutes
"This is the self-service action. A developer goes to their service in Port and clicks 'Request Production Readiness Review.'
It's a Day-2 action — it operates on an existing service, not creating something new.
The inputs are simple: which level you're targeting, and any notes for context.
What happens when they execute: the entity is updated. reviewRequested becomes true. The target level and notes are stored. In our POC, that's enough — the catalog itself is the system of record. In production, you'd wire this to a webhook that creates a Jira ticket and sends a Slack notification to the platform team.
The key benefit: developers get autonomy, platform teams get structured requests instead of random Slack DMs."
TRANSITION: "Let me switch to the live environment and show you all of this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 10 minutes (the centerpiece)
PRE-DEMO CHECKLIST (do BEFORE the slide goes up):
- Have app.getport.io open in your browser
- Land on the Walmart Production Readiness dashboard
- Reset reviewRequested = false on Search Service so the action demo is fresh
- Open this notes pane on a second screen for reference
==========================================
SCENE 1: THE CATALOG (2 min)
==========================================
SAY: "Let me start by showing you the Walmart service catalog. Every microservice across all 10 hubs flows into Port automatically from GitHub."
DO: Click Catalog -&gt; Services in the left sidebar
POINT TO: Column headers (Title, Owning Teams, Hub, Has Monitoring, Has Runbook, Critical Vulns)
POINT TO: The variation across services
SAY: "Notice every service has the same set of properties. Same standards across Bentonville, Bangalore, Sunnyvale — every hub. That alone is something Walmart doesn't have today."
==========================================
SCENE 2: A GOLD SERVICE (1.5 min)
==========================================
SAY: "Let's look at a fully production-ready service — Checkout Service. Critical infrastructure for Walmart."
DO: Click Checkout Service in the catalog
SHOW: Overview tab — Hub = US-Bentonville, Has Monitoring = true, Has Runbook = true, Critical Vulns = 0
DO: Click the Scorecards tab
POINT TO: Walmart Production Readiness scorecard — all 3 rules passing (green)
SAY: "Three Walmart-specific rules: monitoring, no critical vulns, runbook. This service hits Gold because it passes all three. No manual review needed — Port evaluates this continuously."
==========================================
SCENE 3: A SERVICE THAT NEEDS WORK (2 min)
==========================================
SAY: "Now let's look at a service that's NOT production-ready. Search Service."
DO: Click Search Service in the catalog
SHOW: Properties — Hub = Chile-Santiago, all booleans false, 0 vulns
DO: Click Scorecards tab
POINT TO: Failing rules with red X marks
SAY: "Three rules failing. Today at Walmart, this service might deploy to production anyway because there's no enforcement. The developer might not even know what 'production-ready' means for their hub. With Port, the gaps are visible immediately."
==========================================
SCENE 4: TRIGGER THE SELF-SERVICE ACTION (2 min)
==========================================
SAY: "Here's where developer autonomy kicks in. Instead of pinging the platform team on Slack, the developer can request a readiness review themselves."
DO: Still on Search Service, click the Execute action button (or click the action card on the dashboard)
DO: In the form:
  - Target Level: select Gold
  - Notes: type "Need to reach Gold before Black Friday — adding Datadog and runbook this sprint"
DO: Click Execute
DO: Refresh the entity — show reviewRequested = true, targetLevel = Gold, notes saved
SAY: "That's a Day-2 action using Port's UPSERT_ENTITY backend — no Lambda, no webhook, no infrastructure to maintain. In production, this would also kick off a Slack notification and create a Jira ticket. For our POC, updating the catalog is enough to prove the workflow."
==========================================
SCENE 5: THE DASHBOARD (2 min)
==========================================
SAY: "Finally, let's zoom out. This is what VP-level visibility looks like."
DO: Click Walmart Production Readiness in the left sidebar
WALK THROUGH: Each table
  - All Walmart Services — complete catalog with scorecard levels
  - Services Needing Attention — Payment Gateway, Search Service — priority queue
  - Production-Ready Services (Gold Path) — Checkout Service, Notification Worker — model services
POINT TO: The embedded action card on the right
SAY: "A VP of Engineering can look at this dashboard and answer 'How production-ready are we?' in under 30 seconds. They can see exactly which services need attention, by hub, by team. Today, that question would take weeks of manual surveys."
==========================================
SCENE 6: CLOSE THE DEMO (30 sec)
==========================================
SAY: "What we just showed is a focused POC — one scorecard, one action, one dashboard, five services. Production deployment would extend this to all 12,000 services across all 10 hubs, with real-time Datadog and Snyk feeds replacing the mock data, and CI/CD gating preventing deployments below the Bronze tier."
THEN: Switch back to the slides for Expected Outcomes.
==========================================
IF SOMETHING BREAKS
==========================================
- Stay calm — don't apologize repeatedly
- Show the dashboard instead — that's the most resilient view
- Say: "Let me show you the dashboard view instead — it tells the same story"
- Worst case: return to slides and describe what they would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OUTCOMES — 3 minutes
"Here's what we'd expect to see within six months of rolling this out.
Production readiness compliance jumps from roughly 35% to 80% plus. Most services are Basic today because there's no visibility. Once developers can see their score, they fix gaps proactively. It's a behavior change.
Manual review time per service drops from 2 to 4 hours down to 15 minutes. The scorecard automates what a human reviewer does manually today.
Platform team capacity on reviews drops from 40% to under 10%. That's reclaimed engineering time that goes toward building new platform capabilities.
Incident rate from readiness gaps drops 50%. Services that meet Silver-plus standards have monitoring and clean security scans — the top two causes of preventable incidents.
Developer time-to-deploy drops from days waiting on reviews to hours via self-service.
The bottom line: fewer incidents, faster deploys, reclaimed capacity. That's the ROI."
TRANSITION: "And this is just the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 2 minutes
"What I showed today is a focused POC — a slice of the full solution. Here's how you'd extend it.
Kubernetes integration would map real cluster resources — not just services in a catalog, but actual running deployments, pods, namespaces, per hub.
Snyk and Datadog integrations would make scorecard rules dynamic — instead of manually setting hasMonitoring, Port would check Datadog directly. Instead of a number for vulns, Snyk feeds the live count.
CI/CD gating is the enforcement layer — pipelines check the scorecard level before allowing deployment to production. No more shipping below Bronze.
You could expand to other scorecards beyond production readiness: security, cost optimization, documentation coverage.
And hub-specific dashboards would let regional engineering leads see their own posture without the noise of other regions."
TRANSITION: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 open floor
ANTICIPATED QUESTIONS &amp; ANSWERS:
Q: How does this scale to 12,000 developers?
A: Port's catalog is designed for enterprise scale. Walmart Labs-sized orgs use Port at this scale today. RBAC scopes visibility by team and hub — developers only see their services, team leads see their team, leadership sees everything.
Q: How long would a full Walmart rollout take?
A: A 2-3 person platform engineering team could have the core setup running in 2-3 weeks. The integrations are the variable — GitHub is quick, K8s and Snyk depend on their infrastructure. A phased rollout across the 10 hubs over 2-3 months would be realistic. Start with Bentonville, then roll out region by region.
Q: What if different hubs need different standards?
A: Port supports multiple scorecards per blueprint and customizable rules per blueprint. India might add data residency rules. Europe might add GDPR rules. The Walmart baseline stays consistent, with hub-specific scorecards layered on top.
Q: Can the scorecard block deployments?
A: Not directly in Port — but Port exposes a public API. Add one step to your GitHub Actions or Jenkins pipeline that queries Port for the service's scorecard level. If below Bronze, the pipeline fails. That gives you hard enforcement without changing Port itself.
Q: How does this compare to Backstage?
A: Backstage is a framework you build on — it requires significant engineering investment to build features Port gives you out of the box, plus ongoing maintenance burden. Port is a managed platform with native scorecards, self-service actions, AI assistant, and 50-plus integrations. For an org like Walmart that wants time-to-value, Port removes the build-and-maintain burden.
Q: What's the ROI?
A: Three layers. One: reduced incident cost — preventing one major incident during Black Friday pays for the platform. Two: reclaimed platform team capacity — 40% of their time back. Three: faster developer velocity — no more days-long waits for reviews. The platform pays for itself with one avoided outage.
Q: How could you extend the demo?
A: Phase 2 roadmap: Datadog integration auto-populates hasMonitoring. Snyk integration provides real-time vuln counts. K8s integration maps clusters per hub. CI/CD gating blocks deploys below Bronze. Additional scorecards for Security Readiness, Cost Optimization, Documentation Coverage. Hub-specific dashboards for regional leads.
CLOSING NOTE: Thank the audience genuinely. If asked for next steps, offer to share the GitHub repo: github.com/KaylahBuilds/walmart-production-readiness-port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8"/>
        </a:solidFill>
      </p:bgPr>
    </p:bg>
    <p:spTree>
      <p:nvGrpSpPr>
        <p:cNvPr id="1" name=""/>
        <p:cNvGrpSpPr/>
        <p:nvPr/>
      </p:nvGrpSpPr>
      <p:grpSpPr>
        <a:xfrm>
          <a:off x="0" y="0"/>
          <a:ext cx="0" cy="0"/>
          <a:chOff x="0" y="0"/>
          <a:chExt cx="0" cy="0"/>
        </a:xfrm>
      </p:grpSpPr>
      <p:sp>
        <p:nvSpPr>
          <p:cNvPr id="2" name="Shape 0"/>
          <p:cNvSpPr/>
          <p:nvPr/>
        </p:nvSpPr>
        <p:spPr>
          <a:xfrm>
            <a:off x="0" y="4983480"/>
            <a:ext cx="9144000" cy="164592"/>
          </a:xfrm>
          <a:prstGeom prst="rect">
            <a:avLst/>
          </a:prstGeom>
          <a:solidFill>
            <a:srgbClr val="FF6B5C"/>
          </a:solidFill>
          <a:ln w="12700">
            <a:solidFill>
              <a:srgbClr val="FF6B5C"/>
            </a:solidFill>
            <a:prstDash val="solid"/>
          </a:ln>
        </p:spPr>
      </p:sp>
      <p:sp>
        <p:nvSpPr>
          <p:cNvPr id="3" name="Text 1"/>
          <p:cNvSpPr/>
          <p:nvPr/>
        </p:nvSpPr>
        <p:spPr>
          <a:xfrm>
            <a:off x="640080" y="1463040"/>
            <a:ext cx="8229600" cy="2194560"/>
          </a:xfrm>
          <a:prstGeom prst="rect">
            <a:avLst/>
          </a:prstGeom>
          <a:noFill/>
          <a:ln/>
        </p:spPr>
        <p:txBody>
          <a:bodyPr wrap="square" lIns="0" tIns="0" rIns="0" bIns="0" rtlCol="0" anchor="ctr"/>
          <a:lstStyle/>
          <a:p>
            <a:pPr indent="0" marL="0">
              <a:lnSpc>
                <a:spcPct val="105000"/>
              </a:lnSpc>
              <a:buNone/>
            </a:pPr>
            <a:r>
              <a:rPr lang="en-US" sz="5600" b="1" dirty="0">
                <a:solidFill>
                  <a:srgbClr val="FFFFFF"/>
                </a:solidFill>
                <a:latin typeface="Georgia" pitchFamily="34" charset="0"/>
                <a:ea typeface="Georgia" pitchFamily="34" charset="-122"/>
                <a:cs typeface="Georgia" pitchFamily="34" charset="-120"/>
              </a:rPr>
              <a:t>Production Readiness,</a:t>
            </a:r>
            <a:endParaRPr lang="en-US" sz="5600" dirty="0"/>
          </a:p>
          <a:p>
            <a:pPr indent="0" marL="0">
              <a:lnSpc>
                <a:spcPct val="105000"/>
              </a:lnSpc>
              <a:buNone/>
            </a:pPr>
            <a:r>
              <a:rPr lang="en-US" sz="5600" b="1" dirty="0">
                <a:solidFill>
                  <a:srgbClr val="FFFFFF"/>
                </a:solidFill>
                <a:latin typeface="Georgia" pitchFamily="34" charset="0"/>
                <a:ea typeface="Georgia" pitchFamily="34" charset="-122"/>
                <a:cs typeface="Georgia" pitchFamily="34" charset="-120"/>
              </a:rPr>
              <a:t>Standardized.</a:t>
            </a:r>
            <a:endParaRPr lang="en-US" sz="5600" dirty="0"/>
          </a:p>
        </p:txBody>
      </p:sp>
      <p:sp>
        <p:nvSpPr>
          <p:cNvPr id="4" name="Shape 2"/>
          <p:cNvSpPr/>
          <p:nvPr/>
        </p:nvSpPr>
        <p:spPr>
          <a:xfrm>
            <a:off x="640080" y="3749040"/>
            <a:ext cx="731520" cy="45720"/>
          </a:xfrm>
          <a:prstGeom prst="rect">
            <a:avLst/>
          </a:prstGeom>
          <a:solidFill>
            <a:srgbClr val="FF6B5C"/>
          </a:solidFill>
          <a:ln w="12700">
            <a:solidFill>
              <a:srgbClr val="FF6B5C"/>
            </a:solidFill>
            <a:prstDash val="solid"/>
          </a:ln>
        </p:spPr>
      </p:sp>
      <p:sp>
        <p:nvSpPr>
          <p:cNvPr id="5" name="Text 3"/>
          <p:cNvSpPr/>
          <p:nvPr/>
        </p:nvSpPr>
        <p:spPr>
          <a:xfrm>
            <a:off x="640080" y="3886200"/>
            <a:ext cx="7315200" cy="365760"/>
          </a:xfrm>
          <a:prstGeom prst="rect">
            <a:avLst/>
          </a:prstGeom>
          <a:noFill/>
          <a:ln/>
        </p:spPr>
        <p:txBody>
          <a:bodyPr wrap="square" lIns="0" tIns="0" rIns="0" bIns="0" rtlCol="0" anchor="ctr"/>
          <a:lstStyle/>
          <a:p>
            <a:pPr indent="0" marL="0">
              <a:buNone/>
            </a:pPr>
            <a:r>
              <a:rPr lang="en-US" sz="1600" i="1" dirty="0">
                <a:solidFill>
                  <a:srgbClr val="B6BAC8"/>
                </a:solidFill>
                <a:latin typeface="Georgia" pitchFamily="34" charset="0"/>
                <a:ea typeface="Georgia" pitchFamily="34" charset="-122"/>
                <a:cs typeface="Georgia" pitchFamily="34" charset="-120"/>
              </a:rPr>
              <a:t>Walmart × Port  ·  TSM / TSE Home Assignment</a:t>
            </a:r>
            <a:endParaRPr lang="en-US" sz="1600" dirty="0"/>
          </a:p>
        </p:txBody>
      </p:sp>
      <p:sp>
        <p:nvSpPr>
          <p:cNvPr id="6" name="Text 4"/>
          <p:cNvSpPr/>
          <p:nvPr/>
        </p:nvSpPr>
        <p:spPr>
          <a:xfrm>
            <a:off x="640080" y="4709160"/>
            <a:ext cx="7772400" cy="228600"/>
          </a:xfrm>
          <a:prstGeom prst="rect">
            <a:avLst/>
          </a:prstGeom>
          <a:noFill/>
          <a:ln/>
        </p:spPr>
        <p:txBody>
          <a:bodyPr wrap="square" lIns="0" tIns="0" rIns="0" bIns="0" rtlCol="0" anchor="ctr"/>
          <a:lstStyle/>
          <a:p>
            <a:pPr indent="0" marL="0">
              <a:buNone/>
            </a:pPr>
            <a:r>
              <a:rPr lang="en-US" sz="1000" b="1" spc="400" kern="0" dirty="0">
                <a:solidFill>
                  <a:srgbClr val="FFFFFF"/>
                </a:solidFill>
                <a:latin typeface="Helvetica Neue" pitchFamily="34" charset="0"/>
                <a:ea typeface="Helvetica Neue" pitchFamily="34" charset="-122"/>
                <a:cs typeface="Helvetica Neue" pitchFamily="34" charset="-120"/>
              </a:rPr>
              <a:t>[ PRESENTER NAME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Platform Engineering &amp; Developer Experience</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Shape 2"/>
          <p:cNvSpPr/>
          <p:nvPr/>
        </p:nvSpPr>
        <p:spPr>
          <a:xfrm>
            <a:off x="548640" y="155448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822960" y="1828800"/>
            <a:ext cx="3291840" cy="411480"/>
          </a:xfrm>
          <a:prstGeom prst="rect">
            <a:avLst/>
          </a:prstGeom>
          <a:noFill/>
          <a:ln/>
        </p:spPr>
        <p:txBody>
          <a:bodyPr wrap="square" lIns="0" tIns="0" rIns="0" bIns="0" rtlCol="0" anchor="ctr"/>
          <a:lstStyle/>
          <a:p>
            <a:pPr indent="0" marL="0">
              <a:buNone/>
            </a:pPr>
            <a:r>
              <a:rPr lang="en-US" sz="1600" b="1" dirty="0">
                <a:solidFill>
                  <a:srgbClr val="1A2238"/>
                </a:solidFill>
                <a:latin typeface="Georgia" pitchFamily="34" charset="0"/>
                <a:ea typeface="Georgia" pitchFamily="34" charset="-122"/>
                <a:cs typeface="Georgia" pitchFamily="34" charset="-120"/>
              </a:rPr>
              <a:t>Golden paths, not gatekeepers</a:t>
            </a:r>
            <a:endParaRPr lang="en-US" sz="1600" dirty="0"/>
          </a:p>
        </p:txBody>
      </p:sp>
      <p:sp>
        <p:nvSpPr>
          <p:cNvPr id="6" name="Text 4"/>
          <p:cNvSpPr/>
          <p:nvPr/>
        </p:nvSpPr>
        <p:spPr>
          <a:xfrm>
            <a:off x="822960" y="2286000"/>
            <a:ext cx="3291840" cy="50292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Build internal paved roads that let developers ship faster — with built-in guardrails.</a:t>
            </a:r>
            <a:endParaRPr lang="en-US" sz="1100" dirty="0"/>
          </a:p>
        </p:txBody>
      </p:sp>
      <p:sp>
        <p:nvSpPr>
          <p:cNvPr id="7" name="Shape 5"/>
          <p:cNvSpPr/>
          <p:nvPr/>
        </p:nvSpPr>
        <p:spPr>
          <a:xfrm>
            <a:off x="4754880" y="155448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8" name="Text 6"/>
          <p:cNvSpPr/>
          <p:nvPr/>
        </p:nvSpPr>
        <p:spPr>
          <a:xfrm>
            <a:off x="5029200" y="1828800"/>
            <a:ext cx="3291840" cy="411480"/>
          </a:xfrm>
          <a:prstGeom prst="rect">
            <a:avLst/>
          </a:prstGeom>
          <a:noFill/>
          <a:ln/>
        </p:spPr>
        <p:txBody>
          <a:bodyPr wrap="square" lIns="0" tIns="0" rIns="0" bIns="0" rtlCol="0" anchor="ctr"/>
          <a:lstStyle/>
          <a:p>
            <a:pPr indent="0" marL="0">
              <a:buNone/>
            </a:pPr>
            <a:r>
              <a:rPr lang="en-US" sz="1600" b="1" dirty="0">
                <a:solidFill>
                  <a:srgbClr val="1A2238"/>
                </a:solidFill>
                <a:latin typeface="Georgia" pitchFamily="34" charset="0"/>
                <a:ea typeface="Georgia" pitchFamily="34" charset="-122"/>
                <a:cs typeface="Georgia" pitchFamily="34" charset="-120"/>
              </a:rPr>
              <a:t>A single pane of glass</a:t>
            </a:r>
            <a:endParaRPr lang="en-US" sz="1600" dirty="0"/>
          </a:p>
        </p:txBody>
      </p:sp>
      <p:sp>
        <p:nvSpPr>
          <p:cNvPr id="9" name="Text 7"/>
          <p:cNvSpPr/>
          <p:nvPr/>
        </p:nvSpPr>
        <p:spPr>
          <a:xfrm>
            <a:off x="5029200" y="2286000"/>
            <a:ext cx="3291840" cy="50292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Services, ownership, standards, and self-service actions all in one place.</a:t>
            </a:r>
            <a:endParaRPr lang="en-US" sz="1100" dirty="0"/>
          </a:p>
        </p:txBody>
      </p:sp>
      <p:sp>
        <p:nvSpPr>
          <p:cNvPr id="10" name="Shape 8"/>
          <p:cNvSpPr/>
          <p:nvPr/>
        </p:nvSpPr>
        <p:spPr>
          <a:xfrm>
            <a:off x="548640" y="310896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11" name="Text 9"/>
          <p:cNvSpPr/>
          <p:nvPr/>
        </p:nvSpPr>
        <p:spPr>
          <a:xfrm>
            <a:off x="822960" y="3383280"/>
            <a:ext cx="3291840" cy="411480"/>
          </a:xfrm>
          <a:prstGeom prst="rect">
            <a:avLst/>
          </a:prstGeom>
          <a:noFill/>
          <a:ln/>
        </p:spPr>
        <p:txBody>
          <a:bodyPr wrap="square" lIns="0" tIns="0" rIns="0" bIns="0" rtlCol="0" anchor="ctr"/>
          <a:lstStyle/>
          <a:p>
            <a:pPr indent="0" marL="0">
              <a:buNone/>
            </a:pPr>
            <a:r>
              <a:rPr lang="en-US" sz="1600" b="1" dirty="0">
                <a:solidFill>
                  <a:srgbClr val="1A2238"/>
                </a:solidFill>
                <a:latin typeface="Georgia" pitchFamily="34" charset="0"/>
                <a:ea typeface="Georgia" pitchFamily="34" charset="-122"/>
                <a:cs typeface="Georgia" pitchFamily="34" charset="-120"/>
              </a:rPr>
              <a:t>Make the right thing easy</a:t>
            </a:r>
            <a:endParaRPr lang="en-US" sz="1600" dirty="0"/>
          </a:p>
        </p:txBody>
      </p:sp>
      <p:sp>
        <p:nvSpPr>
          <p:cNvPr id="12" name="Text 10"/>
          <p:cNvSpPr/>
          <p:nvPr/>
        </p:nvSpPr>
        <p:spPr>
          <a:xfrm>
            <a:off x="822960" y="3840480"/>
            <a:ext cx="3291840" cy="50292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Measure how easily developers can discover, build, deploy, and operate software.</a:t>
            </a:r>
            <a:endParaRPr lang="en-US" sz="1100" dirty="0"/>
          </a:p>
        </p:txBody>
      </p:sp>
      <p:sp>
        <p:nvSpPr>
          <p:cNvPr id="13" name="Shape 11"/>
          <p:cNvSpPr/>
          <p:nvPr/>
        </p:nvSpPr>
        <p:spPr>
          <a:xfrm>
            <a:off x="4754880" y="310896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14" name="Text 12"/>
          <p:cNvSpPr/>
          <p:nvPr/>
        </p:nvSpPr>
        <p:spPr>
          <a:xfrm>
            <a:off x="5029200" y="3383280"/>
            <a:ext cx="3291840" cy="411480"/>
          </a:xfrm>
          <a:prstGeom prst="rect">
            <a:avLst/>
          </a:prstGeom>
          <a:noFill/>
          <a:ln/>
        </p:spPr>
        <p:txBody>
          <a:bodyPr wrap="square" lIns="0" tIns="0" rIns="0" bIns="0" rtlCol="0" anchor="ctr"/>
          <a:lstStyle/>
          <a:p>
            <a:pPr indent="0" marL="0">
              <a:buNone/>
            </a:pPr>
            <a:r>
              <a:rPr lang="en-US" sz="1600" b="1" dirty="0">
                <a:solidFill>
                  <a:srgbClr val="1A2238"/>
                </a:solidFill>
                <a:latin typeface="Georgia" pitchFamily="34" charset="0"/>
                <a:ea typeface="Georgia" pitchFamily="34" charset="-122"/>
                <a:cs typeface="Georgia" pitchFamily="34" charset="-120"/>
              </a:rPr>
              <a:t>30% faster · 60% fewer incidents</a:t>
            </a:r>
            <a:endParaRPr lang="en-US" sz="1600" dirty="0"/>
          </a:p>
        </p:txBody>
      </p:sp>
      <p:sp>
        <p:nvSpPr>
          <p:cNvPr id="15" name="Text 13"/>
          <p:cNvSpPr/>
          <p:nvPr/>
        </p:nvSpPr>
        <p:spPr>
          <a:xfrm>
            <a:off x="5029200" y="3840480"/>
            <a:ext cx="3291840" cy="50292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Gartner: orgs with mature platform engineering see significantly better outcomes.</a:t>
            </a:r>
            <a:endParaRPr lang="en-US" sz="1100" dirty="0"/>
          </a:p>
        </p:txBody>
      </p:sp>
      <p:sp>
        <p:nvSpPr>
          <p:cNvPr id="16" name="Text 1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The Problem: Inconsistent Production Readiness</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Text 2"/>
          <p:cNvSpPr/>
          <p:nvPr/>
        </p:nvSpPr>
        <p:spPr>
          <a:xfrm>
            <a:off x="548640" y="1463040"/>
            <a:ext cx="4023360" cy="274320"/>
          </a:xfrm>
          <a:prstGeom prst="rect">
            <a:avLst/>
          </a:prstGeom>
          <a:noFill/>
          <a:ln/>
        </p:spPr>
        <p:txBody>
          <a:bodyPr wrap="square" lIns="0" tIns="0" rIns="0" bIns="0" rtlCol="0" anchor="ctr"/>
          <a:lstStyle/>
          <a:p>
            <a:pPr indent="0" marL="0">
              <a:buNone/>
            </a:pPr>
            <a:r>
              <a:rPr lang="en-US" sz="1000" b="1" spc="400" kern="0" dirty="0">
                <a:solidFill>
                  <a:srgbClr val="1A2238"/>
                </a:solidFill>
                <a:latin typeface="Helvetica Neue" pitchFamily="34" charset="0"/>
                <a:ea typeface="Helvetica Neue" pitchFamily="34" charset="-122"/>
                <a:cs typeface="Helvetica Neue" pitchFamily="34" charset="-120"/>
              </a:rPr>
              <a:t>WALMART'S REALITY</a:t>
            </a:r>
            <a:endParaRPr lang="en-US" sz="1000" dirty="0"/>
          </a:p>
        </p:txBody>
      </p:sp>
      <p:sp>
        <p:nvSpPr>
          <p:cNvPr id="5" name="Text 3"/>
          <p:cNvSpPr/>
          <p:nvPr/>
        </p:nvSpPr>
        <p:spPr>
          <a:xfrm>
            <a:off x="548640" y="192024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12,000 developers across 10 global hubs</a:t>
            </a:r>
            <a:endParaRPr lang="en-US" sz="1300" dirty="0"/>
          </a:p>
        </p:txBody>
      </p:sp>
      <p:sp>
        <p:nvSpPr>
          <p:cNvPr id="6" name="Text 4"/>
          <p:cNvSpPr/>
          <p:nvPr/>
        </p:nvSpPr>
        <p:spPr>
          <a:xfrm>
            <a:off x="548640" y="242316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Hundreds of microservices shipping daily</a:t>
            </a:r>
            <a:endParaRPr lang="en-US" sz="1300" dirty="0"/>
          </a:p>
        </p:txBody>
      </p:sp>
      <p:sp>
        <p:nvSpPr>
          <p:cNvPr id="7" name="Text 5"/>
          <p:cNvSpPr/>
          <p:nvPr/>
        </p:nvSpPr>
        <p:spPr>
          <a:xfrm>
            <a:off x="548640" y="292608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Each hub defines "production ready" differently</a:t>
            </a:r>
            <a:endParaRPr lang="en-US" sz="1300" dirty="0"/>
          </a:p>
        </p:txBody>
      </p:sp>
      <p:sp>
        <p:nvSpPr>
          <p:cNvPr id="8" name="Text 6"/>
          <p:cNvSpPr/>
          <p:nvPr/>
        </p:nvSpPr>
        <p:spPr>
          <a:xfrm>
            <a:off x="548640" y="342900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Zero centralized visibility into maturity</a:t>
            </a:r>
            <a:endParaRPr lang="en-US" sz="1300" dirty="0"/>
          </a:p>
        </p:txBody>
      </p:sp>
      <p:sp>
        <p:nvSpPr>
          <p:cNvPr id="9" name="Shape 7"/>
          <p:cNvSpPr/>
          <p:nvPr/>
        </p:nvSpPr>
        <p:spPr>
          <a:xfrm>
            <a:off x="4572000" y="1645920"/>
            <a:ext cx="18288" cy="2743200"/>
          </a:xfrm>
          <a:prstGeom prst="rect">
            <a:avLst/>
          </a:prstGeom>
          <a:solidFill>
            <a:srgbClr val="E5E5E0"/>
          </a:solidFill>
          <a:ln w="12700">
            <a:solidFill>
              <a:srgbClr val="E5E5E0"/>
            </a:solidFill>
            <a:prstDash val="solid"/>
          </a:ln>
        </p:spPr>
      </p:sp>
      <p:sp>
        <p:nvSpPr>
          <p:cNvPr id="10" name="Text 8"/>
          <p:cNvSpPr/>
          <p:nvPr/>
        </p:nvSpPr>
        <p:spPr>
          <a:xfrm>
            <a:off x="4937760" y="1463040"/>
            <a:ext cx="4023360" cy="274320"/>
          </a:xfrm>
          <a:prstGeom prst="rect">
            <a:avLst/>
          </a:prstGeom>
          <a:noFill/>
          <a:ln/>
        </p:spPr>
        <p:txBody>
          <a:bodyPr wrap="square" lIns="0" tIns="0" rIns="0" bIns="0" rtlCol="0" anchor="ctr"/>
          <a:lstStyle/>
          <a:p>
            <a:pPr indent="0" marL="0">
              <a:buNone/>
            </a:pPr>
            <a:r>
              <a:rPr lang="en-US" sz="1000" b="1" spc="400" kern="0" dirty="0">
                <a:solidFill>
                  <a:srgbClr val="FF6B5C"/>
                </a:solidFill>
                <a:latin typeface="Helvetica Neue" pitchFamily="34" charset="0"/>
                <a:ea typeface="Helvetica Neue" pitchFamily="34" charset="-122"/>
                <a:cs typeface="Helvetica Neue" pitchFamily="34" charset="-120"/>
              </a:rPr>
              <a:t>THE IMPACT</a:t>
            </a:r>
            <a:endParaRPr lang="en-US" sz="1000" dirty="0"/>
          </a:p>
        </p:txBody>
      </p:sp>
      <p:sp>
        <p:nvSpPr>
          <p:cNvPr id="11" name="Text 9"/>
          <p:cNvSpPr/>
          <p:nvPr/>
        </p:nvSpPr>
        <p:spPr>
          <a:xfrm>
            <a:off x="4937760" y="192024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Incidents spike during Black Friday peaks</a:t>
            </a:r>
            <a:endParaRPr lang="en-US" sz="1300" dirty="0"/>
          </a:p>
        </p:txBody>
      </p:sp>
      <p:sp>
        <p:nvSpPr>
          <p:cNvPr id="12" name="Text 10"/>
          <p:cNvSpPr/>
          <p:nvPr/>
        </p:nvSpPr>
        <p:spPr>
          <a:xfrm>
            <a:off x="4937760" y="242316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MTTR varies 3–5× across hubs</a:t>
            </a:r>
            <a:endParaRPr lang="en-US" sz="1300" dirty="0"/>
          </a:p>
        </p:txBody>
      </p:sp>
      <p:sp>
        <p:nvSpPr>
          <p:cNvPr id="13" name="Text 11"/>
          <p:cNvSpPr/>
          <p:nvPr/>
        </p:nvSpPr>
        <p:spPr>
          <a:xfrm>
            <a:off x="4937760" y="292608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Platform team: 40%+ time on manual reviews</a:t>
            </a:r>
            <a:endParaRPr lang="en-US" sz="1300" dirty="0"/>
          </a:p>
        </p:txBody>
      </p:sp>
      <p:sp>
        <p:nvSpPr>
          <p:cNvPr id="14" name="Text 12"/>
          <p:cNvSpPr/>
          <p:nvPr/>
        </p:nvSpPr>
        <p:spPr>
          <a:xfrm>
            <a:off x="4937760" y="3429000"/>
            <a:ext cx="4023360" cy="365760"/>
          </a:xfrm>
          <a:prstGeom prst="rect">
            <a:avLst/>
          </a:prstGeom>
          <a:noFill/>
          <a:ln/>
        </p:spPr>
        <p:txBody>
          <a:bodyPr wrap="square" lIns="0" tIns="0" rIns="0" bIns="0" rtlCol="0" anchor="ctr"/>
          <a:lstStyle/>
          <a:p>
            <a:pPr marL="342900" indent="-342900">
              <a:buSzPct val="100000"/>
              <a:buChar char="▪"/>
            </a:pPr>
            <a:r>
              <a:rPr lang="en-US" sz="1300" dirty="0">
                <a:solidFill>
                  <a:srgbClr val="1A2238"/>
                </a:solidFill>
                <a:latin typeface="Georgia" pitchFamily="34" charset="0"/>
                <a:ea typeface="Georgia" pitchFamily="34" charset="-122"/>
                <a:cs typeface="Georgia" pitchFamily="34" charset="-120"/>
              </a:rPr>
              <a:t>Compliance drift — teams pass, then regress</a:t>
            </a:r>
            <a:endParaRPr lang="en-US" sz="1300" dirty="0"/>
          </a:p>
        </p:txBody>
      </p:sp>
      <p:sp>
        <p:nvSpPr>
          <p:cNvPr id="15" name="Text 13"/>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Who Feels the Pain</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Text 2"/>
          <p:cNvSpPr/>
          <p:nvPr/>
        </p:nvSpPr>
        <p:spPr>
          <a:xfrm>
            <a:off x="548640" y="1508760"/>
            <a:ext cx="2286000" cy="36576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Developers</a:t>
            </a:r>
            <a:endParaRPr lang="en-US" sz="1400" dirty="0"/>
          </a:p>
        </p:txBody>
      </p:sp>
      <p:sp>
        <p:nvSpPr>
          <p:cNvPr id="5" name="Text 3"/>
          <p:cNvSpPr/>
          <p:nvPr/>
        </p:nvSpPr>
        <p:spPr>
          <a:xfrm>
            <a:off x="2926080" y="1508760"/>
            <a:ext cx="5669280" cy="365760"/>
          </a:xfrm>
          <a:prstGeom prst="rect">
            <a:avLst/>
          </a:prstGeom>
          <a:noFill/>
          <a:ln/>
        </p:spPr>
        <p:txBody>
          <a:bodyPr wrap="square" lIns="0" tIns="0" rIns="0" bIns="0" rtlCol="0" anchor="ctr"/>
          <a:lstStyle/>
          <a:p>
            <a:pPr indent="0" marL="0">
              <a:buNone/>
            </a:pPr>
            <a:r>
              <a:rPr lang="en-US" sz="1200" i="1" dirty="0">
                <a:solidFill>
                  <a:srgbClr val="5C6378"/>
                </a:solidFill>
                <a:latin typeface="Georgia" pitchFamily="34" charset="0"/>
                <a:ea typeface="Georgia" pitchFamily="34" charset="-122"/>
                <a:cs typeface="Georgia" pitchFamily="34" charset="-120"/>
              </a:rPr>
              <a:t>"What does production ready even mean for my service?"</a:t>
            </a:r>
            <a:endParaRPr lang="en-US" sz="1200" dirty="0"/>
          </a:p>
        </p:txBody>
      </p:sp>
      <p:sp>
        <p:nvSpPr>
          <p:cNvPr id="6" name="Shape 4"/>
          <p:cNvSpPr/>
          <p:nvPr/>
        </p:nvSpPr>
        <p:spPr>
          <a:xfrm>
            <a:off x="548640" y="2011680"/>
            <a:ext cx="8046720" cy="9144"/>
          </a:xfrm>
          <a:prstGeom prst="rect">
            <a:avLst/>
          </a:prstGeom>
          <a:solidFill>
            <a:srgbClr val="E5E5E0"/>
          </a:solidFill>
          <a:ln w="12700">
            <a:solidFill>
              <a:srgbClr val="E5E5E0"/>
            </a:solidFill>
            <a:prstDash val="solid"/>
          </a:ln>
        </p:spPr>
      </p:sp>
      <p:sp>
        <p:nvSpPr>
          <p:cNvPr id="7" name="Text 5"/>
          <p:cNvSpPr/>
          <p:nvPr/>
        </p:nvSpPr>
        <p:spPr>
          <a:xfrm>
            <a:off x="548640" y="2103120"/>
            <a:ext cx="2286000" cy="36576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Team Leads</a:t>
            </a:r>
            <a:endParaRPr lang="en-US" sz="1400" dirty="0"/>
          </a:p>
        </p:txBody>
      </p:sp>
      <p:sp>
        <p:nvSpPr>
          <p:cNvPr id="8" name="Text 6"/>
          <p:cNvSpPr/>
          <p:nvPr/>
        </p:nvSpPr>
        <p:spPr>
          <a:xfrm>
            <a:off x="2926080" y="2103120"/>
            <a:ext cx="5669280" cy="365760"/>
          </a:xfrm>
          <a:prstGeom prst="rect">
            <a:avLst/>
          </a:prstGeom>
          <a:noFill/>
          <a:ln/>
        </p:spPr>
        <p:txBody>
          <a:bodyPr wrap="square" lIns="0" tIns="0" rIns="0" bIns="0" rtlCol="0" anchor="ctr"/>
          <a:lstStyle/>
          <a:p>
            <a:pPr indent="0" marL="0">
              <a:buNone/>
            </a:pPr>
            <a:r>
              <a:rPr lang="en-US" sz="1200" i="1" dirty="0">
                <a:solidFill>
                  <a:srgbClr val="5C6378"/>
                </a:solidFill>
                <a:latin typeface="Georgia" pitchFamily="34" charset="0"/>
                <a:ea typeface="Georgia" pitchFamily="34" charset="-122"/>
                <a:cs typeface="Georgia" pitchFamily="34" charset="-120"/>
              </a:rPr>
              <a:t>Manual checklists, inconsistent enforcement across hubs</a:t>
            </a:r>
            <a:endParaRPr lang="en-US" sz="1200" dirty="0"/>
          </a:p>
        </p:txBody>
      </p:sp>
      <p:sp>
        <p:nvSpPr>
          <p:cNvPr id="9" name="Shape 7"/>
          <p:cNvSpPr/>
          <p:nvPr/>
        </p:nvSpPr>
        <p:spPr>
          <a:xfrm>
            <a:off x="548640" y="2606040"/>
            <a:ext cx="8046720" cy="9144"/>
          </a:xfrm>
          <a:prstGeom prst="rect">
            <a:avLst/>
          </a:prstGeom>
          <a:solidFill>
            <a:srgbClr val="E5E5E0"/>
          </a:solidFill>
          <a:ln w="12700">
            <a:solidFill>
              <a:srgbClr val="E5E5E0"/>
            </a:solidFill>
            <a:prstDash val="solid"/>
          </a:ln>
        </p:spPr>
      </p:sp>
      <p:sp>
        <p:nvSpPr>
          <p:cNvPr id="10" name="Text 8"/>
          <p:cNvSpPr/>
          <p:nvPr/>
        </p:nvSpPr>
        <p:spPr>
          <a:xfrm>
            <a:off x="548640" y="2697480"/>
            <a:ext cx="2286000" cy="36576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Platform Engineers</a:t>
            </a:r>
            <a:endParaRPr lang="en-US" sz="1400" dirty="0"/>
          </a:p>
        </p:txBody>
      </p:sp>
      <p:sp>
        <p:nvSpPr>
          <p:cNvPr id="11" name="Text 9"/>
          <p:cNvSpPr/>
          <p:nvPr/>
        </p:nvSpPr>
        <p:spPr>
          <a:xfrm>
            <a:off x="2926080" y="2697480"/>
            <a:ext cx="5669280" cy="365760"/>
          </a:xfrm>
          <a:prstGeom prst="rect">
            <a:avLst/>
          </a:prstGeom>
          <a:noFill/>
          <a:ln/>
        </p:spPr>
        <p:txBody>
          <a:bodyPr wrap="square" lIns="0" tIns="0" rIns="0" bIns="0" rtlCol="0" anchor="ctr"/>
          <a:lstStyle/>
          <a:p>
            <a:pPr indent="0" marL="0">
              <a:buNone/>
            </a:pPr>
            <a:r>
              <a:rPr lang="en-US" sz="1200" i="1" dirty="0">
                <a:solidFill>
                  <a:srgbClr val="5C6378"/>
                </a:solidFill>
                <a:latin typeface="Georgia" pitchFamily="34" charset="0"/>
                <a:ea typeface="Georgia" pitchFamily="34" charset="-122"/>
                <a:cs typeface="Georgia" pitchFamily="34" charset="-120"/>
              </a:rPr>
              <a:t>Bottlenecked reviewing hundreds of services manually</a:t>
            </a:r>
            <a:endParaRPr lang="en-US" sz="1200" dirty="0"/>
          </a:p>
        </p:txBody>
      </p:sp>
      <p:sp>
        <p:nvSpPr>
          <p:cNvPr id="12" name="Shape 10"/>
          <p:cNvSpPr/>
          <p:nvPr/>
        </p:nvSpPr>
        <p:spPr>
          <a:xfrm>
            <a:off x="548640" y="3200400"/>
            <a:ext cx="8046720" cy="9144"/>
          </a:xfrm>
          <a:prstGeom prst="rect">
            <a:avLst/>
          </a:prstGeom>
          <a:solidFill>
            <a:srgbClr val="E5E5E0"/>
          </a:solidFill>
          <a:ln w="12700">
            <a:solidFill>
              <a:srgbClr val="E5E5E0"/>
            </a:solidFill>
            <a:prstDash val="solid"/>
          </a:ln>
        </p:spPr>
      </p:sp>
      <p:sp>
        <p:nvSpPr>
          <p:cNvPr id="13" name="Text 11"/>
          <p:cNvSpPr/>
          <p:nvPr/>
        </p:nvSpPr>
        <p:spPr>
          <a:xfrm>
            <a:off x="548640" y="3291840"/>
            <a:ext cx="2286000" cy="36576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VP Engineering</a:t>
            </a:r>
            <a:endParaRPr lang="en-US" sz="1400" dirty="0"/>
          </a:p>
        </p:txBody>
      </p:sp>
      <p:sp>
        <p:nvSpPr>
          <p:cNvPr id="14" name="Text 12"/>
          <p:cNvSpPr/>
          <p:nvPr/>
        </p:nvSpPr>
        <p:spPr>
          <a:xfrm>
            <a:off x="2926080" y="3291840"/>
            <a:ext cx="5669280" cy="365760"/>
          </a:xfrm>
          <a:prstGeom prst="rect">
            <a:avLst/>
          </a:prstGeom>
          <a:noFill/>
          <a:ln/>
        </p:spPr>
        <p:txBody>
          <a:bodyPr wrap="square" lIns="0" tIns="0" rIns="0" bIns="0" rtlCol="0" anchor="ctr"/>
          <a:lstStyle/>
          <a:p>
            <a:pPr indent="0" marL="0">
              <a:buNone/>
            </a:pPr>
            <a:r>
              <a:rPr lang="en-US" sz="1200" i="1" dirty="0">
                <a:solidFill>
                  <a:srgbClr val="5C6378"/>
                </a:solidFill>
                <a:latin typeface="Georgia" pitchFamily="34" charset="0"/>
                <a:ea typeface="Georgia" pitchFamily="34" charset="-122"/>
                <a:cs typeface="Georgia" pitchFamily="34" charset="-120"/>
              </a:rPr>
              <a:t>No visibility into org-wide production readiness posture</a:t>
            </a:r>
            <a:endParaRPr lang="en-US" sz="1200" dirty="0"/>
          </a:p>
        </p:txBody>
      </p:sp>
      <p:sp>
        <p:nvSpPr>
          <p:cNvPr id="15" name="Shape 13"/>
          <p:cNvSpPr/>
          <p:nvPr/>
        </p:nvSpPr>
        <p:spPr>
          <a:xfrm>
            <a:off x="548640" y="3794760"/>
            <a:ext cx="8046720" cy="9144"/>
          </a:xfrm>
          <a:prstGeom prst="rect">
            <a:avLst/>
          </a:prstGeom>
          <a:solidFill>
            <a:srgbClr val="E5E5E0"/>
          </a:solidFill>
          <a:ln w="12700">
            <a:solidFill>
              <a:srgbClr val="E5E5E0"/>
            </a:solidFill>
            <a:prstDash val="solid"/>
          </a:ln>
        </p:spPr>
      </p:sp>
      <p:sp>
        <p:nvSpPr>
          <p:cNvPr id="16" name="Text 14"/>
          <p:cNvSpPr/>
          <p:nvPr/>
        </p:nvSpPr>
        <p:spPr>
          <a:xfrm>
            <a:off x="548640" y="3886200"/>
            <a:ext cx="2286000" cy="36576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SREs / On-Call</a:t>
            </a:r>
            <a:endParaRPr lang="en-US" sz="1400" dirty="0"/>
          </a:p>
        </p:txBody>
      </p:sp>
      <p:sp>
        <p:nvSpPr>
          <p:cNvPr id="17" name="Text 15"/>
          <p:cNvSpPr/>
          <p:nvPr/>
        </p:nvSpPr>
        <p:spPr>
          <a:xfrm>
            <a:off x="2926080" y="3886200"/>
            <a:ext cx="5669280" cy="365760"/>
          </a:xfrm>
          <a:prstGeom prst="rect">
            <a:avLst/>
          </a:prstGeom>
          <a:noFill/>
          <a:ln/>
        </p:spPr>
        <p:txBody>
          <a:bodyPr wrap="square" lIns="0" tIns="0" rIns="0" bIns="0" rtlCol="0" anchor="ctr"/>
          <a:lstStyle/>
          <a:p>
            <a:pPr indent="0" marL="0">
              <a:buNone/>
            </a:pPr>
            <a:r>
              <a:rPr lang="en-US" sz="1200" i="1" dirty="0">
                <a:solidFill>
                  <a:srgbClr val="5C6378"/>
                </a:solidFill>
                <a:latin typeface="Georgia" pitchFamily="34" charset="0"/>
                <a:ea typeface="Georgia" pitchFamily="34" charset="-122"/>
                <a:cs typeface="Georgia" pitchFamily="34" charset="-120"/>
              </a:rPr>
              <a:t>Paged for incidents on services that skipped checks</a:t>
            </a:r>
            <a:endParaRPr lang="en-US" sz="1200" dirty="0"/>
          </a:p>
        </p:txBody>
      </p:sp>
      <p:sp>
        <p:nvSpPr>
          <p:cNvPr id="18" name="Text 16"/>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238"/>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Business Case</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Text 2"/>
          <p:cNvSpPr/>
          <p:nvPr/>
        </p:nvSpPr>
        <p:spPr>
          <a:xfrm>
            <a:off x="457200" y="1737360"/>
            <a:ext cx="1965960" cy="1280160"/>
          </a:xfrm>
          <a:prstGeom prst="rect">
            <a:avLst/>
          </a:prstGeom>
          <a:noFill/>
          <a:ln/>
        </p:spPr>
        <p:txBody>
          <a:bodyPr wrap="square" lIns="0" tIns="0" rIns="0" bIns="0" rtlCol="0" anchor="ctr"/>
          <a:lstStyle/>
          <a:p>
            <a:pPr algn="ctr" indent="0" marL="0">
              <a:buNone/>
            </a:pPr>
            <a:r>
              <a:rPr lang="en-US" sz="5000" b="1" dirty="0">
                <a:solidFill>
                  <a:srgbClr val="FF6B5C"/>
                </a:solidFill>
                <a:latin typeface="Georgia" pitchFamily="34" charset="0"/>
                <a:ea typeface="Georgia" pitchFamily="34" charset="-122"/>
                <a:cs typeface="Georgia" pitchFamily="34" charset="-120"/>
              </a:rPr>
              <a:t>$13M+</a:t>
            </a:r>
            <a:endParaRPr lang="en-US" sz="5000" dirty="0"/>
          </a:p>
        </p:txBody>
      </p:sp>
      <p:sp>
        <p:nvSpPr>
          <p:cNvPr id="5" name="Text 3"/>
          <p:cNvSpPr/>
          <p:nvPr/>
        </p:nvSpPr>
        <p:spPr>
          <a:xfrm>
            <a:off x="594360" y="3108960"/>
            <a:ext cx="1691640" cy="914400"/>
          </a:xfrm>
          <a:prstGeom prst="rect">
            <a:avLst/>
          </a:prstGeom>
          <a:noFill/>
          <a:ln/>
        </p:spPr>
        <p:txBody>
          <a:bodyPr wrap="square" lIns="0" tIns="0" rIns="0" bIns="0" rtlCol="0" anchor="ctr"/>
          <a:lstStyle/>
          <a:p>
            <a:pPr algn="ctr" indent="0" marL="0">
              <a:buNone/>
            </a:pPr>
            <a:r>
              <a:rPr lang="en-US" sz="1100" i="1" dirty="0">
                <a:solidFill>
                  <a:srgbClr val="B6BAC8"/>
                </a:solidFill>
                <a:latin typeface="Georgia" pitchFamily="34" charset="0"/>
                <a:ea typeface="Georgia" pitchFamily="34" charset="-122"/>
                <a:cs typeface="Georgia" pitchFamily="34" charset="-120"/>
              </a:rPr>
              <a:t>Per hour of downtime</a:t>
            </a:r>
            <a:endParaRPr lang="en-US" sz="1100" dirty="0"/>
          </a:p>
          <a:p>
            <a:pPr algn="ctr" indent="0" marL="0">
              <a:buNone/>
            </a:pPr>
            <a:r>
              <a:rPr lang="en-US" sz="1100" i="1" dirty="0">
                <a:solidFill>
                  <a:srgbClr val="B6BAC8"/>
                </a:solidFill>
                <a:latin typeface="Georgia" pitchFamily="34" charset="0"/>
                <a:ea typeface="Georgia" pitchFamily="34" charset="-122"/>
                <a:cs typeface="Georgia" pitchFamily="34" charset="-120"/>
              </a:rPr>
              <a:t>during peak retail events</a:t>
            </a:r>
            <a:endParaRPr lang="en-US" sz="1100" dirty="0"/>
          </a:p>
        </p:txBody>
      </p:sp>
      <p:sp>
        <p:nvSpPr>
          <p:cNvPr id="6" name="Text 4"/>
          <p:cNvSpPr/>
          <p:nvPr/>
        </p:nvSpPr>
        <p:spPr>
          <a:xfrm>
            <a:off x="2651760" y="1737360"/>
            <a:ext cx="1965960" cy="1280160"/>
          </a:xfrm>
          <a:prstGeom prst="rect">
            <a:avLst/>
          </a:prstGeom>
          <a:noFill/>
          <a:ln/>
        </p:spPr>
        <p:txBody>
          <a:bodyPr wrap="square" lIns="0" tIns="0" rIns="0" bIns="0" rtlCol="0" anchor="ctr"/>
          <a:lstStyle/>
          <a:p>
            <a:pPr algn="ctr" indent="0" marL="0">
              <a:buNone/>
            </a:pPr>
            <a:r>
              <a:rPr lang="en-US" sz="5000" b="1" dirty="0">
                <a:solidFill>
                  <a:srgbClr val="FF6B5C"/>
                </a:solidFill>
                <a:latin typeface="Georgia" pitchFamily="34" charset="0"/>
                <a:ea typeface="Georgia" pitchFamily="34" charset="-122"/>
                <a:cs typeface="Georgia" pitchFamily="34" charset="-120"/>
              </a:rPr>
              <a:t>40%</a:t>
            </a:r>
            <a:endParaRPr lang="en-US" sz="5000" dirty="0"/>
          </a:p>
        </p:txBody>
      </p:sp>
      <p:sp>
        <p:nvSpPr>
          <p:cNvPr id="7" name="Text 5"/>
          <p:cNvSpPr/>
          <p:nvPr/>
        </p:nvSpPr>
        <p:spPr>
          <a:xfrm>
            <a:off x="2788920" y="3108960"/>
            <a:ext cx="1691640" cy="914400"/>
          </a:xfrm>
          <a:prstGeom prst="rect">
            <a:avLst/>
          </a:prstGeom>
          <a:noFill/>
          <a:ln/>
        </p:spPr>
        <p:txBody>
          <a:bodyPr wrap="square" lIns="0" tIns="0" rIns="0" bIns="0" rtlCol="0" anchor="ctr"/>
          <a:lstStyle/>
          <a:p>
            <a:pPr algn="ctr" indent="0" marL="0">
              <a:buNone/>
            </a:pPr>
            <a:r>
              <a:rPr lang="en-US" sz="1100" i="1" dirty="0">
                <a:solidFill>
                  <a:srgbClr val="B6BAC8"/>
                </a:solidFill>
                <a:latin typeface="Georgia" pitchFamily="34" charset="0"/>
                <a:ea typeface="Georgia" pitchFamily="34" charset="-122"/>
                <a:cs typeface="Georgia" pitchFamily="34" charset="-120"/>
              </a:rPr>
              <a:t>Of platform team capacity</a:t>
            </a:r>
            <a:endParaRPr lang="en-US" sz="1100" dirty="0"/>
          </a:p>
          <a:p>
            <a:pPr algn="ctr" indent="0" marL="0">
              <a:buNone/>
            </a:pPr>
            <a:r>
              <a:rPr lang="en-US" sz="1100" i="1" dirty="0">
                <a:solidFill>
                  <a:srgbClr val="B6BAC8"/>
                </a:solidFill>
                <a:latin typeface="Georgia" pitchFamily="34" charset="0"/>
                <a:ea typeface="Georgia" pitchFamily="34" charset="-122"/>
                <a:cs typeface="Georgia" pitchFamily="34" charset="-120"/>
              </a:rPr>
              <a:t>consumed by manual reviews</a:t>
            </a:r>
            <a:endParaRPr lang="en-US" sz="1100" dirty="0"/>
          </a:p>
        </p:txBody>
      </p:sp>
      <p:sp>
        <p:nvSpPr>
          <p:cNvPr id="8" name="Text 6"/>
          <p:cNvSpPr/>
          <p:nvPr/>
        </p:nvSpPr>
        <p:spPr>
          <a:xfrm>
            <a:off x="4846320" y="1737360"/>
            <a:ext cx="1965960" cy="1280160"/>
          </a:xfrm>
          <a:prstGeom prst="rect">
            <a:avLst/>
          </a:prstGeom>
          <a:noFill/>
          <a:ln/>
        </p:spPr>
        <p:txBody>
          <a:bodyPr wrap="square" lIns="0" tIns="0" rIns="0" bIns="0" rtlCol="0" anchor="ctr"/>
          <a:lstStyle/>
          <a:p>
            <a:pPr algn="ctr" indent="0" marL="0">
              <a:buNone/>
            </a:pPr>
            <a:r>
              <a:rPr lang="en-US" sz="5000" b="1" dirty="0">
                <a:solidFill>
                  <a:srgbClr val="FF6B5C"/>
                </a:solidFill>
                <a:latin typeface="Georgia" pitchFamily="34" charset="0"/>
                <a:ea typeface="Georgia" pitchFamily="34" charset="-122"/>
                <a:cs typeface="Georgia" pitchFamily="34" charset="-120"/>
              </a:rPr>
              <a:t>3×</a:t>
            </a:r>
            <a:endParaRPr lang="en-US" sz="5000" dirty="0"/>
          </a:p>
        </p:txBody>
      </p:sp>
      <p:sp>
        <p:nvSpPr>
          <p:cNvPr id="9" name="Text 7"/>
          <p:cNvSpPr/>
          <p:nvPr/>
        </p:nvSpPr>
        <p:spPr>
          <a:xfrm>
            <a:off x="4983480" y="3108960"/>
            <a:ext cx="1691640" cy="914400"/>
          </a:xfrm>
          <a:prstGeom prst="rect">
            <a:avLst/>
          </a:prstGeom>
          <a:noFill/>
          <a:ln/>
        </p:spPr>
        <p:txBody>
          <a:bodyPr wrap="square" lIns="0" tIns="0" rIns="0" bIns="0" rtlCol="0" anchor="ctr"/>
          <a:lstStyle/>
          <a:p>
            <a:pPr algn="ctr" indent="0" marL="0">
              <a:buNone/>
            </a:pPr>
            <a:r>
              <a:rPr lang="en-US" sz="1100" i="1" dirty="0">
                <a:solidFill>
                  <a:srgbClr val="B6BAC8"/>
                </a:solidFill>
                <a:latin typeface="Georgia" pitchFamily="34" charset="0"/>
                <a:ea typeface="Georgia" pitchFamily="34" charset="-122"/>
                <a:cs typeface="Georgia" pitchFamily="34" charset="-120"/>
              </a:rPr>
              <a:t>Variation in incident rates</a:t>
            </a:r>
            <a:endParaRPr lang="en-US" sz="1100" dirty="0"/>
          </a:p>
          <a:p>
            <a:pPr algn="ctr" indent="0" marL="0">
              <a:buNone/>
            </a:pPr>
            <a:r>
              <a:rPr lang="en-US" sz="1100" i="1" dirty="0">
                <a:solidFill>
                  <a:srgbClr val="B6BAC8"/>
                </a:solidFill>
                <a:latin typeface="Georgia" pitchFamily="34" charset="0"/>
                <a:ea typeface="Georgia" pitchFamily="34" charset="-122"/>
                <a:cs typeface="Georgia" pitchFamily="34" charset="-120"/>
              </a:rPr>
              <a:t>strong vs. weak standards</a:t>
            </a:r>
            <a:endParaRPr lang="en-US" sz="1100" dirty="0"/>
          </a:p>
        </p:txBody>
      </p:sp>
      <p:sp>
        <p:nvSpPr>
          <p:cNvPr id="10" name="Text 8"/>
          <p:cNvSpPr/>
          <p:nvPr/>
        </p:nvSpPr>
        <p:spPr>
          <a:xfrm>
            <a:off x="7040880" y="1737360"/>
            <a:ext cx="1965960" cy="1280160"/>
          </a:xfrm>
          <a:prstGeom prst="rect">
            <a:avLst/>
          </a:prstGeom>
          <a:noFill/>
          <a:ln/>
        </p:spPr>
        <p:txBody>
          <a:bodyPr wrap="square" lIns="0" tIns="0" rIns="0" bIns="0" rtlCol="0" anchor="ctr"/>
          <a:lstStyle/>
          <a:p>
            <a:pPr algn="ctr" indent="0" marL="0">
              <a:buNone/>
            </a:pPr>
            <a:r>
              <a:rPr lang="en-US" sz="5000" b="1" dirty="0">
                <a:solidFill>
                  <a:srgbClr val="FF6B5C"/>
                </a:solidFill>
                <a:latin typeface="Georgia" pitchFamily="34" charset="0"/>
                <a:ea typeface="Georgia" pitchFamily="34" charset="-122"/>
                <a:cs typeface="Georgia" pitchFamily="34" charset="-120"/>
              </a:rPr>
              <a:t>1%</a:t>
            </a:r>
            <a:endParaRPr lang="en-US" sz="5000" dirty="0"/>
          </a:p>
        </p:txBody>
      </p:sp>
      <p:sp>
        <p:nvSpPr>
          <p:cNvPr id="11" name="Text 9"/>
          <p:cNvSpPr/>
          <p:nvPr/>
        </p:nvSpPr>
        <p:spPr>
          <a:xfrm>
            <a:off x="7178040" y="3108960"/>
            <a:ext cx="1691640" cy="914400"/>
          </a:xfrm>
          <a:prstGeom prst="rect">
            <a:avLst/>
          </a:prstGeom>
          <a:noFill/>
          <a:ln/>
        </p:spPr>
        <p:txBody>
          <a:bodyPr wrap="square" lIns="0" tIns="0" rIns="0" bIns="0" rtlCol="0" anchor="ctr"/>
          <a:lstStyle/>
          <a:p>
            <a:pPr algn="ctr" indent="0" marL="0">
              <a:buNone/>
            </a:pPr>
            <a:r>
              <a:rPr lang="en-US" sz="1100" i="1" dirty="0">
                <a:solidFill>
                  <a:srgbClr val="B6BAC8"/>
                </a:solidFill>
                <a:latin typeface="Georgia" pitchFamily="34" charset="0"/>
                <a:ea typeface="Georgia" pitchFamily="34" charset="-122"/>
                <a:cs typeface="Georgia" pitchFamily="34" charset="-120"/>
              </a:rPr>
              <a:t>Reliability improvement</a:t>
            </a:r>
            <a:endParaRPr lang="en-US" sz="1100" dirty="0"/>
          </a:p>
          <a:p>
            <a:pPr algn="ctr" indent="0" marL="0">
              <a:buNone/>
            </a:pPr>
            <a:r>
              <a:rPr lang="en-US" sz="1100" i="1" dirty="0">
                <a:solidFill>
                  <a:srgbClr val="B6BAC8"/>
                </a:solidFill>
                <a:latin typeface="Georgia" pitchFamily="34" charset="0"/>
                <a:ea typeface="Georgia" pitchFamily="34" charset="-122"/>
                <a:cs typeface="Georgia" pitchFamily="34" charset="-120"/>
              </a:rPr>
              <a:t>= measurable revenue protection</a:t>
            </a:r>
            <a:endParaRPr lang="en-US" sz="1100" dirty="0"/>
          </a:p>
        </p:txBody>
      </p:sp>
      <p:sp>
        <p:nvSpPr>
          <p:cNvPr id="12" name="Text 10"/>
          <p:cNvSpPr/>
          <p:nvPr/>
        </p:nvSpPr>
        <p:spPr>
          <a:xfrm>
            <a:off x="548640" y="4389120"/>
            <a:ext cx="8046720" cy="365760"/>
          </a:xfrm>
          <a:prstGeom prst="rect">
            <a:avLst/>
          </a:prstGeom>
          <a:noFill/>
          <a:ln/>
        </p:spPr>
        <p:txBody>
          <a:bodyPr wrap="square" lIns="0" tIns="0" rIns="0" bIns="0" rtlCol="0" anchor="ctr"/>
          <a:lstStyle/>
          <a:p>
            <a:pPr algn="ctr" indent="0" marL="0">
              <a:buNone/>
            </a:pPr>
            <a:r>
              <a:rPr lang="en-US" sz="1400" i="1" dirty="0">
                <a:solidFill>
                  <a:srgbClr val="FFFFFF"/>
                </a:solidFill>
                <a:latin typeface="Georgia" pitchFamily="34" charset="0"/>
                <a:ea typeface="Georgia" pitchFamily="34" charset="-122"/>
                <a:cs typeface="Georgia" pitchFamily="34" charset="-120"/>
              </a:rPr>
              <a:t>One avoided outage pays for the platform.</a:t>
            </a:r>
            <a:endParaRPr lang="en-US" sz="1400" dirty="0"/>
          </a:p>
        </p:txBody>
      </p:sp>
      <p:sp>
        <p:nvSpPr>
          <p:cNvPr id="13" name="Text 11"/>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From Manual to Automated</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Text 2"/>
          <p:cNvSpPr/>
          <p:nvPr/>
        </p:nvSpPr>
        <p:spPr>
          <a:xfrm>
            <a:off x="457200" y="1417320"/>
            <a:ext cx="3931920" cy="274320"/>
          </a:xfrm>
          <a:prstGeom prst="rect">
            <a:avLst/>
          </a:prstGeom>
          <a:noFill/>
          <a:ln/>
        </p:spPr>
        <p:txBody>
          <a:bodyPr wrap="square" lIns="0" tIns="0" rIns="0" bIns="0" rtlCol="0" anchor="ctr"/>
          <a:lstStyle/>
          <a:p>
            <a:pPr algn="ctr" indent="0" marL="0">
              <a:buNone/>
            </a:pPr>
            <a:r>
              <a:rPr lang="en-US" sz="1000" b="1" spc="400" kern="0" dirty="0">
                <a:solidFill>
                  <a:srgbClr val="FF6B5C"/>
                </a:solidFill>
                <a:latin typeface="Helvetica Neue" pitchFamily="34" charset="0"/>
                <a:ea typeface="Helvetica Neue" pitchFamily="34" charset="-122"/>
                <a:cs typeface="Helvetica Neue" pitchFamily="34" charset="-120"/>
              </a:rPr>
              <a:t>TODAY</a:t>
            </a:r>
            <a:endParaRPr lang="en-US" sz="1000" dirty="0"/>
          </a:p>
        </p:txBody>
      </p:sp>
      <p:sp>
        <p:nvSpPr>
          <p:cNvPr id="5" name="Text 3"/>
          <p:cNvSpPr/>
          <p:nvPr/>
        </p:nvSpPr>
        <p:spPr>
          <a:xfrm>
            <a:off x="4754880" y="1417320"/>
            <a:ext cx="3931920" cy="274320"/>
          </a:xfrm>
          <a:prstGeom prst="rect">
            <a:avLst/>
          </a:prstGeom>
          <a:noFill/>
          <a:ln/>
        </p:spPr>
        <p:txBody>
          <a:bodyPr wrap="square" lIns="0" tIns="0" rIns="0" bIns="0" rtlCol="0" anchor="ctr"/>
          <a:lstStyle/>
          <a:p>
            <a:pPr algn="ctr" indent="0" marL="0">
              <a:buNone/>
            </a:pPr>
            <a:r>
              <a:rPr lang="en-US" sz="1000" b="1" spc="400" kern="0" dirty="0">
                <a:solidFill>
                  <a:srgbClr val="1A2238"/>
                </a:solidFill>
                <a:latin typeface="Helvetica Neue" pitchFamily="34" charset="0"/>
                <a:ea typeface="Helvetica Neue" pitchFamily="34" charset="-122"/>
                <a:cs typeface="Helvetica Neue" pitchFamily="34" charset="-120"/>
              </a:rPr>
              <a:t>WITH PORT</a:t>
            </a:r>
            <a:endParaRPr lang="en-US" sz="1000" dirty="0"/>
          </a:p>
        </p:txBody>
      </p:sp>
      <p:sp>
        <p:nvSpPr>
          <p:cNvPr id="6" name="Shape 4"/>
          <p:cNvSpPr/>
          <p:nvPr/>
        </p:nvSpPr>
        <p:spPr>
          <a:xfrm>
            <a:off x="457200" y="1783080"/>
            <a:ext cx="3931920" cy="384048"/>
          </a:xfrm>
          <a:prstGeom prst="rect">
            <a:avLst/>
          </a:prstGeom>
          <a:solidFill>
            <a:srgbClr val="FAFAF7"/>
          </a:solidFill>
          <a:ln w="6350">
            <a:solidFill>
              <a:srgbClr val="FF6B5C"/>
            </a:solidFill>
            <a:prstDash val="solid"/>
          </a:ln>
        </p:spPr>
      </p:sp>
      <p:sp>
        <p:nvSpPr>
          <p:cNvPr id="7" name="Text 5"/>
          <p:cNvSpPr/>
          <p:nvPr/>
        </p:nvSpPr>
        <p:spPr>
          <a:xfrm>
            <a:off x="640080" y="1783080"/>
            <a:ext cx="365760" cy="384048"/>
          </a:xfrm>
          <a:prstGeom prst="rect">
            <a:avLst/>
          </a:prstGeom>
          <a:noFill/>
          <a:ln/>
        </p:spPr>
        <p:txBody>
          <a:bodyPr wrap="square" lIns="0" tIns="0" rIns="0" bIns="0" rtlCol="0" anchor="ctr"/>
          <a:lstStyle/>
          <a:p>
            <a:pPr indent="0" marL="0">
              <a:buNone/>
            </a:pPr>
            <a:r>
              <a:rPr lang="en-US" sz="1100" b="1" dirty="0">
                <a:solidFill>
                  <a:srgbClr val="FF6B5C"/>
                </a:solidFill>
                <a:latin typeface="Georgia" pitchFamily="34" charset="0"/>
                <a:ea typeface="Georgia" pitchFamily="34" charset="-122"/>
                <a:cs typeface="Georgia" pitchFamily="34" charset="-120"/>
              </a:rPr>
              <a:t>1.</a:t>
            </a:r>
            <a:endParaRPr lang="en-US" sz="1100" dirty="0"/>
          </a:p>
        </p:txBody>
      </p:sp>
      <p:sp>
        <p:nvSpPr>
          <p:cNvPr id="8" name="Text 6"/>
          <p:cNvSpPr/>
          <p:nvPr/>
        </p:nvSpPr>
        <p:spPr>
          <a:xfrm>
            <a:off x="1005840" y="1783080"/>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Developer asks team lead</a:t>
            </a:r>
            <a:endParaRPr lang="en-US" sz="1100" dirty="0"/>
          </a:p>
        </p:txBody>
      </p:sp>
      <p:sp>
        <p:nvSpPr>
          <p:cNvPr id="9" name="Shape 7"/>
          <p:cNvSpPr/>
          <p:nvPr/>
        </p:nvSpPr>
        <p:spPr>
          <a:xfrm>
            <a:off x="2377440" y="2176272"/>
            <a:ext cx="36576" cy="82296"/>
          </a:xfrm>
          <a:prstGeom prst="rect">
            <a:avLst/>
          </a:prstGeom>
          <a:solidFill>
            <a:srgbClr val="FF6B5C"/>
          </a:solidFill>
          <a:ln w="12700">
            <a:solidFill>
              <a:srgbClr val="FF6B5C"/>
            </a:solidFill>
            <a:prstDash val="solid"/>
          </a:ln>
        </p:spPr>
      </p:sp>
      <p:sp>
        <p:nvSpPr>
          <p:cNvPr id="10" name="Shape 8"/>
          <p:cNvSpPr/>
          <p:nvPr/>
        </p:nvSpPr>
        <p:spPr>
          <a:xfrm>
            <a:off x="457200" y="2258568"/>
            <a:ext cx="3931920" cy="384048"/>
          </a:xfrm>
          <a:prstGeom prst="rect">
            <a:avLst/>
          </a:prstGeom>
          <a:solidFill>
            <a:srgbClr val="FAFAF7"/>
          </a:solidFill>
          <a:ln w="6350">
            <a:solidFill>
              <a:srgbClr val="FF6B5C"/>
            </a:solidFill>
            <a:prstDash val="solid"/>
          </a:ln>
        </p:spPr>
      </p:sp>
      <p:sp>
        <p:nvSpPr>
          <p:cNvPr id="11" name="Text 9"/>
          <p:cNvSpPr/>
          <p:nvPr/>
        </p:nvSpPr>
        <p:spPr>
          <a:xfrm>
            <a:off x="640080" y="2258568"/>
            <a:ext cx="365760" cy="384048"/>
          </a:xfrm>
          <a:prstGeom prst="rect">
            <a:avLst/>
          </a:prstGeom>
          <a:noFill/>
          <a:ln/>
        </p:spPr>
        <p:txBody>
          <a:bodyPr wrap="square" lIns="0" tIns="0" rIns="0" bIns="0" rtlCol="0" anchor="ctr"/>
          <a:lstStyle/>
          <a:p>
            <a:pPr indent="0" marL="0">
              <a:buNone/>
            </a:pPr>
            <a:r>
              <a:rPr lang="en-US" sz="1100" b="1" dirty="0">
                <a:solidFill>
                  <a:srgbClr val="FF6B5C"/>
                </a:solidFill>
                <a:latin typeface="Georgia" pitchFamily="34" charset="0"/>
                <a:ea typeface="Georgia" pitchFamily="34" charset="-122"/>
                <a:cs typeface="Georgia" pitchFamily="34" charset="-120"/>
              </a:rPr>
              <a:t>2.</a:t>
            </a:r>
            <a:endParaRPr lang="en-US" sz="1100" dirty="0"/>
          </a:p>
        </p:txBody>
      </p:sp>
      <p:sp>
        <p:nvSpPr>
          <p:cNvPr id="12" name="Text 10"/>
          <p:cNvSpPr/>
          <p:nvPr/>
        </p:nvSpPr>
        <p:spPr>
          <a:xfrm>
            <a:off x="1005840" y="2258568"/>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Lead checks hub-specific wiki</a:t>
            </a:r>
            <a:endParaRPr lang="en-US" sz="1100" dirty="0"/>
          </a:p>
        </p:txBody>
      </p:sp>
      <p:sp>
        <p:nvSpPr>
          <p:cNvPr id="13" name="Shape 11"/>
          <p:cNvSpPr/>
          <p:nvPr/>
        </p:nvSpPr>
        <p:spPr>
          <a:xfrm>
            <a:off x="2377440" y="2651760"/>
            <a:ext cx="36576" cy="82296"/>
          </a:xfrm>
          <a:prstGeom prst="rect">
            <a:avLst/>
          </a:prstGeom>
          <a:solidFill>
            <a:srgbClr val="FF6B5C"/>
          </a:solidFill>
          <a:ln w="12700">
            <a:solidFill>
              <a:srgbClr val="FF6B5C"/>
            </a:solidFill>
            <a:prstDash val="solid"/>
          </a:ln>
        </p:spPr>
      </p:sp>
      <p:sp>
        <p:nvSpPr>
          <p:cNvPr id="14" name="Shape 12"/>
          <p:cNvSpPr/>
          <p:nvPr/>
        </p:nvSpPr>
        <p:spPr>
          <a:xfrm>
            <a:off x="457200" y="2734056"/>
            <a:ext cx="3931920" cy="384048"/>
          </a:xfrm>
          <a:prstGeom prst="rect">
            <a:avLst/>
          </a:prstGeom>
          <a:solidFill>
            <a:srgbClr val="FAFAF7"/>
          </a:solidFill>
          <a:ln w="6350">
            <a:solidFill>
              <a:srgbClr val="FF6B5C"/>
            </a:solidFill>
            <a:prstDash val="solid"/>
          </a:ln>
        </p:spPr>
      </p:sp>
      <p:sp>
        <p:nvSpPr>
          <p:cNvPr id="15" name="Text 13"/>
          <p:cNvSpPr/>
          <p:nvPr/>
        </p:nvSpPr>
        <p:spPr>
          <a:xfrm>
            <a:off x="640080" y="2734056"/>
            <a:ext cx="365760" cy="384048"/>
          </a:xfrm>
          <a:prstGeom prst="rect">
            <a:avLst/>
          </a:prstGeom>
          <a:noFill/>
          <a:ln/>
        </p:spPr>
        <p:txBody>
          <a:bodyPr wrap="square" lIns="0" tIns="0" rIns="0" bIns="0" rtlCol="0" anchor="ctr"/>
          <a:lstStyle/>
          <a:p>
            <a:pPr indent="0" marL="0">
              <a:buNone/>
            </a:pPr>
            <a:r>
              <a:rPr lang="en-US" sz="1100" b="1" dirty="0">
                <a:solidFill>
                  <a:srgbClr val="FF6B5C"/>
                </a:solidFill>
                <a:latin typeface="Georgia" pitchFamily="34" charset="0"/>
                <a:ea typeface="Georgia" pitchFamily="34" charset="-122"/>
                <a:cs typeface="Georgia" pitchFamily="34" charset="-120"/>
              </a:rPr>
              <a:t>3.</a:t>
            </a:r>
            <a:endParaRPr lang="en-US" sz="1100" dirty="0"/>
          </a:p>
        </p:txBody>
      </p:sp>
      <p:sp>
        <p:nvSpPr>
          <p:cNvPr id="16" name="Text 14"/>
          <p:cNvSpPr/>
          <p:nvPr/>
        </p:nvSpPr>
        <p:spPr>
          <a:xfrm>
            <a:off x="1005840" y="2734056"/>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Manual review, ad hoc tools</a:t>
            </a:r>
            <a:endParaRPr lang="en-US" sz="1100" dirty="0"/>
          </a:p>
        </p:txBody>
      </p:sp>
      <p:sp>
        <p:nvSpPr>
          <p:cNvPr id="17" name="Shape 15"/>
          <p:cNvSpPr/>
          <p:nvPr/>
        </p:nvSpPr>
        <p:spPr>
          <a:xfrm>
            <a:off x="2377440" y="3127248"/>
            <a:ext cx="36576" cy="82296"/>
          </a:xfrm>
          <a:prstGeom prst="rect">
            <a:avLst/>
          </a:prstGeom>
          <a:solidFill>
            <a:srgbClr val="FF6B5C"/>
          </a:solidFill>
          <a:ln w="12700">
            <a:solidFill>
              <a:srgbClr val="FF6B5C"/>
            </a:solidFill>
            <a:prstDash val="solid"/>
          </a:ln>
        </p:spPr>
      </p:sp>
      <p:sp>
        <p:nvSpPr>
          <p:cNvPr id="18" name="Shape 16"/>
          <p:cNvSpPr/>
          <p:nvPr/>
        </p:nvSpPr>
        <p:spPr>
          <a:xfrm>
            <a:off x="457200" y="3209544"/>
            <a:ext cx="3931920" cy="384048"/>
          </a:xfrm>
          <a:prstGeom prst="rect">
            <a:avLst/>
          </a:prstGeom>
          <a:solidFill>
            <a:srgbClr val="FAFAF7"/>
          </a:solidFill>
          <a:ln w="6350">
            <a:solidFill>
              <a:srgbClr val="FF6B5C"/>
            </a:solidFill>
            <a:prstDash val="solid"/>
          </a:ln>
        </p:spPr>
      </p:sp>
      <p:sp>
        <p:nvSpPr>
          <p:cNvPr id="19" name="Text 17"/>
          <p:cNvSpPr/>
          <p:nvPr/>
        </p:nvSpPr>
        <p:spPr>
          <a:xfrm>
            <a:off x="640080" y="3209544"/>
            <a:ext cx="365760" cy="384048"/>
          </a:xfrm>
          <a:prstGeom prst="rect">
            <a:avLst/>
          </a:prstGeom>
          <a:noFill/>
          <a:ln/>
        </p:spPr>
        <p:txBody>
          <a:bodyPr wrap="square" lIns="0" tIns="0" rIns="0" bIns="0" rtlCol="0" anchor="ctr"/>
          <a:lstStyle/>
          <a:p>
            <a:pPr indent="0" marL="0">
              <a:buNone/>
            </a:pPr>
            <a:r>
              <a:rPr lang="en-US" sz="1100" b="1" dirty="0">
                <a:solidFill>
                  <a:srgbClr val="FF6B5C"/>
                </a:solidFill>
                <a:latin typeface="Georgia" pitchFamily="34" charset="0"/>
                <a:ea typeface="Georgia" pitchFamily="34" charset="-122"/>
                <a:cs typeface="Georgia" pitchFamily="34" charset="-120"/>
              </a:rPr>
              <a:t>4.</a:t>
            </a:r>
            <a:endParaRPr lang="en-US" sz="1100" dirty="0"/>
          </a:p>
        </p:txBody>
      </p:sp>
      <p:sp>
        <p:nvSpPr>
          <p:cNvPr id="20" name="Text 18"/>
          <p:cNvSpPr/>
          <p:nvPr/>
        </p:nvSpPr>
        <p:spPr>
          <a:xfrm>
            <a:off x="1005840" y="3209544"/>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Subjective approval</a:t>
            </a:r>
            <a:endParaRPr lang="en-US" sz="1100" dirty="0"/>
          </a:p>
        </p:txBody>
      </p:sp>
      <p:sp>
        <p:nvSpPr>
          <p:cNvPr id="21" name="Shape 19"/>
          <p:cNvSpPr/>
          <p:nvPr/>
        </p:nvSpPr>
        <p:spPr>
          <a:xfrm>
            <a:off x="2377440" y="3602736"/>
            <a:ext cx="36576" cy="82296"/>
          </a:xfrm>
          <a:prstGeom prst="rect">
            <a:avLst/>
          </a:prstGeom>
          <a:solidFill>
            <a:srgbClr val="FF6B5C"/>
          </a:solidFill>
          <a:ln w="12700">
            <a:solidFill>
              <a:srgbClr val="FF6B5C"/>
            </a:solidFill>
            <a:prstDash val="solid"/>
          </a:ln>
        </p:spPr>
      </p:sp>
      <p:sp>
        <p:nvSpPr>
          <p:cNvPr id="22" name="Shape 20"/>
          <p:cNvSpPr/>
          <p:nvPr/>
        </p:nvSpPr>
        <p:spPr>
          <a:xfrm>
            <a:off x="457200" y="3685032"/>
            <a:ext cx="3931920" cy="384048"/>
          </a:xfrm>
          <a:prstGeom prst="rect">
            <a:avLst/>
          </a:prstGeom>
          <a:solidFill>
            <a:srgbClr val="FAFAF7"/>
          </a:solidFill>
          <a:ln w="6350">
            <a:solidFill>
              <a:srgbClr val="FF6B5C"/>
            </a:solidFill>
            <a:prstDash val="solid"/>
          </a:ln>
        </p:spPr>
      </p:sp>
      <p:sp>
        <p:nvSpPr>
          <p:cNvPr id="23" name="Text 21"/>
          <p:cNvSpPr/>
          <p:nvPr/>
        </p:nvSpPr>
        <p:spPr>
          <a:xfrm>
            <a:off x="640080" y="3685032"/>
            <a:ext cx="365760" cy="384048"/>
          </a:xfrm>
          <a:prstGeom prst="rect">
            <a:avLst/>
          </a:prstGeom>
          <a:noFill/>
          <a:ln/>
        </p:spPr>
        <p:txBody>
          <a:bodyPr wrap="square" lIns="0" tIns="0" rIns="0" bIns="0" rtlCol="0" anchor="ctr"/>
          <a:lstStyle/>
          <a:p>
            <a:pPr indent="0" marL="0">
              <a:buNone/>
            </a:pPr>
            <a:r>
              <a:rPr lang="en-US" sz="1100" b="1" dirty="0">
                <a:solidFill>
                  <a:srgbClr val="FF6B5C"/>
                </a:solidFill>
                <a:latin typeface="Georgia" pitchFamily="34" charset="0"/>
                <a:ea typeface="Georgia" pitchFamily="34" charset="-122"/>
                <a:cs typeface="Georgia" pitchFamily="34" charset="-120"/>
              </a:rPr>
              <a:t>5.</a:t>
            </a:r>
            <a:endParaRPr lang="en-US" sz="1100" dirty="0"/>
          </a:p>
        </p:txBody>
      </p:sp>
      <p:sp>
        <p:nvSpPr>
          <p:cNvPr id="24" name="Text 22"/>
          <p:cNvSpPr/>
          <p:nvPr/>
        </p:nvSpPr>
        <p:spPr>
          <a:xfrm>
            <a:off x="1005840" y="3685032"/>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Deploy → gaps in production</a:t>
            </a:r>
            <a:endParaRPr lang="en-US" sz="1100" dirty="0"/>
          </a:p>
        </p:txBody>
      </p:sp>
      <p:sp>
        <p:nvSpPr>
          <p:cNvPr id="25" name="Shape 23"/>
          <p:cNvSpPr/>
          <p:nvPr/>
        </p:nvSpPr>
        <p:spPr>
          <a:xfrm>
            <a:off x="2377440" y="4078224"/>
            <a:ext cx="36576" cy="82296"/>
          </a:xfrm>
          <a:prstGeom prst="rect">
            <a:avLst/>
          </a:prstGeom>
          <a:solidFill>
            <a:srgbClr val="FF6B5C"/>
          </a:solidFill>
          <a:ln w="12700">
            <a:solidFill>
              <a:srgbClr val="FF6B5C"/>
            </a:solidFill>
            <a:prstDash val="solid"/>
          </a:ln>
        </p:spPr>
      </p:sp>
      <p:sp>
        <p:nvSpPr>
          <p:cNvPr id="26" name="Shape 24"/>
          <p:cNvSpPr/>
          <p:nvPr/>
        </p:nvSpPr>
        <p:spPr>
          <a:xfrm>
            <a:off x="457200" y="4160520"/>
            <a:ext cx="3931920" cy="384048"/>
          </a:xfrm>
          <a:prstGeom prst="rect">
            <a:avLst/>
          </a:prstGeom>
          <a:solidFill>
            <a:srgbClr val="FAFAF7"/>
          </a:solidFill>
          <a:ln w="6350">
            <a:solidFill>
              <a:srgbClr val="FF6B5C"/>
            </a:solidFill>
            <a:prstDash val="solid"/>
          </a:ln>
        </p:spPr>
      </p:sp>
      <p:sp>
        <p:nvSpPr>
          <p:cNvPr id="27" name="Text 25"/>
          <p:cNvSpPr/>
          <p:nvPr/>
        </p:nvSpPr>
        <p:spPr>
          <a:xfrm>
            <a:off x="640080" y="4160520"/>
            <a:ext cx="365760" cy="384048"/>
          </a:xfrm>
          <a:prstGeom prst="rect">
            <a:avLst/>
          </a:prstGeom>
          <a:noFill/>
          <a:ln/>
        </p:spPr>
        <p:txBody>
          <a:bodyPr wrap="square" lIns="0" tIns="0" rIns="0" bIns="0" rtlCol="0" anchor="ctr"/>
          <a:lstStyle/>
          <a:p>
            <a:pPr indent="0" marL="0">
              <a:buNone/>
            </a:pPr>
            <a:r>
              <a:rPr lang="en-US" sz="1100" b="1" dirty="0">
                <a:solidFill>
                  <a:srgbClr val="FF6B5C"/>
                </a:solidFill>
                <a:latin typeface="Georgia" pitchFamily="34" charset="0"/>
                <a:ea typeface="Georgia" pitchFamily="34" charset="-122"/>
                <a:cs typeface="Georgia" pitchFamily="34" charset="-120"/>
              </a:rPr>
              <a:t>6.</a:t>
            </a:r>
            <a:endParaRPr lang="en-US" sz="1100" dirty="0"/>
          </a:p>
        </p:txBody>
      </p:sp>
      <p:sp>
        <p:nvSpPr>
          <p:cNvPr id="28" name="Text 26"/>
          <p:cNvSpPr/>
          <p:nvPr/>
        </p:nvSpPr>
        <p:spPr>
          <a:xfrm>
            <a:off x="1005840" y="4160520"/>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Retrospective → ad hoc fix</a:t>
            </a:r>
            <a:endParaRPr lang="en-US" sz="1100" dirty="0"/>
          </a:p>
        </p:txBody>
      </p:sp>
      <p:sp>
        <p:nvSpPr>
          <p:cNvPr id="29" name="Shape 27"/>
          <p:cNvSpPr/>
          <p:nvPr/>
        </p:nvSpPr>
        <p:spPr>
          <a:xfrm>
            <a:off x="4754880" y="1783080"/>
            <a:ext cx="3931920" cy="384048"/>
          </a:xfrm>
          <a:prstGeom prst="rect">
            <a:avLst/>
          </a:prstGeom>
          <a:solidFill>
            <a:srgbClr val="FAFAF7"/>
          </a:solidFill>
          <a:ln w="6350">
            <a:solidFill>
              <a:srgbClr val="1A2238"/>
            </a:solidFill>
            <a:prstDash val="solid"/>
          </a:ln>
        </p:spPr>
      </p:sp>
      <p:sp>
        <p:nvSpPr>
          <p:cNvPr id="30" name="Text 28"/>
          <p:cNvSpPr/>
          <p:nvPr/>
        </p:nvSpPr>
        <p:spPr>
          <a:xfrm>
            <a:off x="4937760" y="1783080"/>
            <a:ext cx="365760" cy="384048"/>
          </a:xfrm>
          <a:prstGeom prst="rect">
            <a:avLst/>
          </a:prstGeom>
          <a:noFill/>
          <a:ln/>
        </p:spPr>
        <p:txBody>
          <a:bodyPr wrap="square" lIns="0" tIns="0" rIns="0" bIns="0" rtlCol="0" anchor="ctr"/>
          <a:lstStyle/>
          <a:p>
            <a:pPr indent="0" marL="0">
              <a:buNone/>
            </a:pPr>
            <a:r>
              <a:rPr lang="en-US" sz="1100" b="1" dirty="0">
                <a:solidFill>
                  <a:srgbClr val="1A2238"/>
                </a:solidFill>
                <a:latin typeface="Georgia" pitchFamily="34" charset="0"/>
                <a:ea typeface="Georgia" pitchFamily="34" charset="-122"/>
                <a:cs typeface="Georgia" pitchFamily="34" charset="-120"/>
              </a:rPr>
              <a:t>1.</a:t>
            </a:r>
            <a:endParaRPr lang="en-US" sz="1100" dirty="0"/>
          </a:p>
        </p:txBody>
      </p:sp>
      <p:sp>
        <p:nvSpPr>
          <p:cNvPr id="31" name="Text 29"/>
          <p:cNvSpPr/>
          <p:nvPr/>
        </p:nvSpPr>
        <p:spPr>
          <a:xfrm>
            <a:off x="5303520" y="1783080"/>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Auto-ingested from GitHub</a:t>
            </a:r>
            <a:endParaRPr lang="en-US" sz="1100" dirty="0"/>
          </a:p>
        </p:txBody>
      </p:sp>
      <p:sp>
        <p:nvSpPr>
          <p:cNvPr id="32" name="Shape 30"/>
          <p:cNvSpPr/>
          <p:nvPr/>
        </p:nvSpPr>
        <p:spPr>
          <a:xfrm>
            <a:off x="6675120" y="2176272"/>
            <a:ext cx="36576" cy="82296"/>
          </a:xfrm>
          <a:prstGeom prst="rect">
            <a:avLst/>
          </a:prstGeom>
          <a:solidFill>
            <a:srgbClr val="1A2238"/>
          </a:solidFill>
          <a:ln w="12700">
            <a:solidFill>
              <a:srgbClr val="1A2238"/>
            </a:solidFill>
            <a:prstDash val="solid"/>
          </a:ln>
        </p:spPr>
      </p:sp>
      <p:sp>
        <p:nvSpPr>
          <p:cNvPr id="33" name="Shape 31"/>
          <p:cNvSpPr/>
          <p:nvPr/>
        </p:nvSpPr>
        <p:spPr>
          <a:xfrm>
            <a:off x="4754880" y="2258568"/>
            <a:ext cx="3931920" cy="384048"/>
          </a:xfrm>
          <a:prstGeom prst="rect">
            <a:avLst/>
          </a:prstGeom>
          <a:solidFill>
            <a:srgbClr val="FAFAF7"/>
          </a:solidFill>
          <a:ln w="6350">
            <a:solidFill>
              <a:srgbClr val="1A2238"/>
            </a:solidFill>
            <a:prstDash val="solid"/>
          </a:ln>
        </p:spPr>
      </p:sp>
      <p:sp>
        <p:nvSpPr>
          <p:cNvPr id="34" name="Text 32"/>
          <p:cNvSpPr/>
          <p:nvPr/>
        </p:nvSpPr>
        <p:spPr>
          <a:xfrm>
            <a:off x="4937760" y="2258568"/>
            <a:ext cx="365760" cy="384048"/>
          </a:xfrm>
          <a:prstGeom prst="rect">
            <a:avLst/>
          </a:prstGeom>
          <a:noFill/>
          <a:ln/>
        </p:spPr>
        <p:txBody>
          <a:bodyPr wrap="square" lIns="0" tIns="0" rIns="0" bIns="0" rtlCol="0" anchor="ctr"/>
          <a:lstStyle/>
          <a:p>
            <a:pPr indent="0" marL="0">
              <a:buNone/>
            </a:pPr>
            <a:r>
              <a:rPr lang="en-US" sz="1100" b="1" dirty="0">
                <a:solidFill>
                  <a:srgbClr val="1A2238"/>
                </a:solidFill>
                <a:latin typeface="Georgia" pitchFamily="34" charset="0"/>
                <a:ea typeface="Georgia" pitchFamily="34" charset="-122"/>
                <a:cs typeface="Georgia" pitchFamily="34" charset="-120"/>
              </a:rPr>
              <a:t>2.</a:t>
            </a:r>
            <a:endParaRPr lang="en-US" sz="1100" dirty="0"/>
          </a:p>
        </p:txBody>
      </p:sp>
      <p:sp>
        <p:nvSpPr>
          <p:cNvPr id="35" name="Text 33"/>
          <p:cNvSpPr/>
          <p:nvPr/>
        </p:nvSpPr>
        <p:spPr>
          <a:xfrm>
            <a:off x="5303520" y="2258568"/>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Scorecard evaluates 24/7</a:t>
            </a:r>
            <a:endParaRPr lang="en-US" sz="1100" dirty="0"/>
          </a:p>
        </p:txBody>
      </p:sp>
      <p:sp>
        <p:nvSpPr>
          <p:cNvPr id="36" name="Shape 34"/>
          <p:cNvSpPr/>
          <p:nvPr/>
        </p:nvSpPr>
        <p:spPr>
          <a:xfrm>
            <a:off x="6675120" y="2651760"/>
            <a:ext cx="36576" cy="82296"/>
          </a:xfrm>
          <a:prstGeom prst="rect">
            <a:avLst/>
          </a:prstGeom>
          <a:solidFill>
            <a:srgbClr val="1A2238"/>
          </a:solidFill>
          <a:ln w="12700">
            <a:solidFill>
              <a:srgbClr val="1A2238"/>
            </a:solidFill>
            <a:prstDash val="solid"/>
          </a:ln>
        </p:spPr>
      </p:sp>
      <p:sp>
        <p:nvSpPr>
          <p:cNvPr id="37" name="Shape 35"/>
          <p:cNvSpPr/>
          <p:nvPr/>
        </p:nvSpPr>
        <p:spPr>
          <a:xfrm>
            <a:off x="4754880" y="2734056"/>
            <a:ext cx="3931920" cy="384048"/>
          </a:xfrm>
          <a:prstGeom prst="rect">
            <a:avLst/>
          </a:prstGeom>
          <a:solidFill>
            <a:srgbClr val="FAFAF7"/>
          </a:solidFill>
          <a:ln w="6350">
            <a:solidFill>
              <a:srgbClr val="1A2238"/>
            </a:solidFill>
            <a:prstDash val="solid"/>
          </a:ln>
        </p:spPr>
      </p:sp>
      <p:sp>
        <p:nvSpPr>
          <p:cNvPr id="38" name="Text 36"/>
          <p:cNvSpPr/>
          <p:nvPr/>
        </p:nvSpPr>
        <p:spPr>
          <a:xfrm>
            <a:off x="4937760" y="2734056"/>
            <a:ext cx="365760" cy="384048"/>
          </a:xfrm>
          <a:prstGeom prst="rect">
            <a:avLst/>
          </a:prstGeom>
          <a:noFill/>
          <a:ln/>
        </p:spPr>
        <p:txBody>
          <a:bodyPr wrap="square" lIns="0" tIns="0" rIns="0" bIns="0" rtlCol="0" anchor="ctr"/>
          <a:lstStyle/>
          <a:p>
            <a:pPr indent="0" marL="0">
              <a:buNone/>
            </a:pPr>
            <a:r>
              <a:rPr lang="en-US" sz="1100" b="1" dirty="0">
                <a:solidFill>
                  <a:srgbClr val="1A2238"/>
                </a:solidFill>
                <a:latin typeface="Georgia" pitchFamily="34" charset="0"/>
                <a:ea typeface="Georgia" pitchFamily="34" charset="-122"/>
                <a:cs typeface="Georgia" pitchFamily="34" charset="-120"/>
              </a:rPr>
              <a:t>3.</a:t>
            </a:r>
            <a:endParaRPr lang="en-US" sz="1100" dirty="0"/>
          </a:p>
        </p:txBody>
      </p:sp>
      <p:sp>
        <p:nvSpPr>
          <p:cNvPr id="39" name="Text 37"/>
          <p:cNvSpPr/>
          <p:nvPr/>
        </p:nvSpPr>
        <p:spPr>
          <a:xfrm>
            <a:off x="5303520" y="2734056"/>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Developer sees gaps in real time</a:t>
            </a:r>
            <a:endParaRPr lang="en-US" sz="1100" dirty="0"/>
          </a:p>
        </p:txBody>
      </p:sp>
      <p:sp>
        <p:nvSpPr>
          <p:cNvPr id="40" name="Shape 38"/>
          <p:cNvSpPr/>
          <p:nvPr/>
        </p:nvSpPr>
        <p:spPr>
          <a:xfrm>
            <a:off x="6675120" y="3127248"/>
            <a:ext cx="36576" cy="82296"/>
          </a:xfrm>
          <a:prstGeom prst="rect">
            <a:avLst/>
          </a:prstGeom>
          <a:solidFill>
            <a:srgbClr val="1A2238"/>
          </a:solidFill>
          <a:ln w="12700">
            <a:solidFill>
              <a:srgbClr val="1A2238"/>
            </a:solidFill>
            <a:prstDash val="solid"/>
          </a:ln>
        </p:spPr>
      </p:sp>
      <p:sp>
        <p:nvSpPr>
          <p:cNvPr id="41" name="Shape 39"/>
          <p:cNvSpPr/>
          <p:nvPr/>
        </p:nvSpPr>
        <p:spPr>
          <a:xfrm>
            <a:off x="4754880" y="3209544"/>
            <a:ext cx="3931920" cy="384048"/>
          </a:xfrm>
          <a:prstGeom prst="rect">
            <a:avLst/>
          </a:prstGeom>
          <a:solidFill>
            <a:srgbClr val="FAFAF7"/>
          </a:solidFill>
          <a:ln w="6350">
            <a:solidFill>
              <a:srgbClr val="1A2238"/>
            </a:solidFill>
            <a:prstDash val="solid"/>
          </a:ln>
        </p:spPr>
      </p:sp>
      <p:sp>
        <p:nvSpPr>
          <p:cNvPr id="42" name="Text 40"/>
          <p:cNvSpPr/>
          <p:nvPr/>
        </p:nvSpPr>
        <p:spPr>
          <a:xfrm>
            <a:off x="4937760" y="3209544"/>
            <a:ext cx="365760" cy="384048"/>
          </a:xfrm>
          <a:prstGeom prst="rect">
            <a:avLst/>
          </a:prstGeom>
          <a:noFill/>
          <a:ln/>
        </p:spPr>
        <p:txBody>
          <a:bodyPr wrap="square" lIns="0" tIns="0" rIns="0" bIns="0" rtlCol="0" anchor="ctr"/>
          <a:lstStyle/>
          <a:p>
            <a:pPr indent="0" marL="0">
              <a:buNone/>
            </a:pPr>
            <a:r>
              <a:rPr lang="en-US" sz="1100" b="1" dirty="0">
                <a:solidFill>
                  <a:srgbClr val="1A2238"/>
                </a:solidFill>
                <a:latin typeface="Georgia" pitchFamily="34" charset="0"/>
                <a:ea typeface="Georgia" pitchFamily="34" charset="-122"/>
                <a:cs typeface="Georgia" pitchFamily="34" charset="-120"/>
              </a:rPr>
              <a:t>4.</a:t>
            </a:r>
            <a:endParaRPr lang="en-US" sz="1100" dirty="0"/>
          </a:p>
        </p:txBody>
      </p:sp>
      <p:sp>
        <p:nvSpPr>
          <p:cNvPr id="43" name="Text 41"/>
          <p:cNvSpPr/>
          <p:nvPr/>
        </p:nvSpPr>
        <p:spPr>
          <a:xfrm>
            <a:off x="5303520" y="3209544"/>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Self-service action requests review</a:t>
            </a:r>
            <a:endParaRPr lang="en-US" sz="1100" dirty="0"/>
          </a:p>
        </p:txBody>
      </p:sp>
      <p:sp>
        <p:nvSpPr>
          <p:cNvPr id="44" name="Shape 42"/>
          <p:cNvSpPr/>
          <p:nvPr/>
        </p:nvSpPr>
        <p:spPr>
          <a:xfrm>
            <a:off x="6675120" y="3602736"/>
            <a:ext cx="36576" cy="82296"/>
          </a:xfrm>
          <a:prstGeom prst="rect">
            <a:avLst/>
          </a:prstGeom>
          <a:solidFill>
            <a:srgbClr val="1A2238"/>
          </a:solidFill>
          <a:ln w="12700">
            <a:solidFill>
              <a:srgbClr val="1A2238"/>
            </a:solidFill>
            <a:prstDash val="solid"/>
          </a:ln>
        </p:spPr>
      </p:sp>
      <p:sp>
        <p:nvSpPr>
          <p:cNvPr id="45" name="Shape 43"/>
          <p:cNvSpPr/>
          <p:nvPr/>
        </p:nvSpPr>
        <p:spPr>
          <a:xfrm>
            <a:off x="4754880" y="3685032"/>
            <a:ext cx="3931920" cy="384048"/>
          </a:xfrm>
          <a:prstGeom prst="rect">
            <a:avLst/>
          </a:prstGeom>
          <a:solidFill>
            <a:srgbClr val="FAFAF7"/>
          </a:solidFill>
          <a:ln w="6350">
            <a:solidFill>
              <a:srgbClr val="1A2238"/>
            </a:solidFill>
            <a:prstDash val="solid"/>
          </a:ln>
        </p:spPr>
      </p:sp>
      <p:sp>
        <p:nvSpPr>
          <p:cNvPr id="46" name="Text 44"/>
          <p:cNvSpPr/>
          <p:nvPr/>
        </p:nvSpPr>
        <p:spPr>
          <a:xfrm>
            <a:off x="4937760" y="3685032"/>
            <a:ext cx="365760" cy="384048"/>
          </a:xfrm>
          <a:prstGeom prst="rect">
            <a:avLst/>
          </a:prstGeom>
          <a:noFill/>
          <a:ln/>
        </p:spPr>
        <p:txBody>
          <a:bodyPr wrap="square" lIns="0" tIns="0" rIns="0" bIns="0" rtlCol="0" anchor="ctr"/>
          <a:lstStyle/>
          <a:p>
            <a:pPr indent="0" marL="0">
              <a:buNone/>
            </a:pPr>
            <a:r>
              <a:rPr lang="en-US" sz="1100" b="1" dirty="0">
                <a:solidFill>
                  <a:srgbClr val="1A2238"/>
                </a:solidFill>
                <a:latin typeface="Georgia" pitchFamily="34" charset="0"/>
                <a:ea typeface="Georgia" pitchFamily="34" charset="-122"/>
                <a:cs typeface="Georgia" pitchFamily="34" charset="-120"/>
              </a:rPr>
              <a:t>5.</a:t>
            </a:r>
            <a:endParaRPr lang="en-US" sz="1100" dirty="0"/>
          </a:p>
        </p:txBody>
      </p:sp>
      <p:sp>
        <p:nvSpPr>
          <p:cNvPr id="47" name="Text 45"/>
          <p:cNvSpPr/>
          <p:nvPr/>
        </p:nvSpPr>
        <p:spPr>
          <a:xfrm>
            <a:off x="5303520" y="3685032"/>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Dashboard shows org-wide posture</a:t>
            </a:r>
            <a:endParaRPr lang="en-US" sz="1100" dirty="0"/>
          </a:p>
        </p:txBody>
      </p:sp>
      <p:sp>
        <p:nvSpPr>
          <p:cNvPr id="48" name="Shape 46"/>
          <p:cNvSpPr/>
          <p:nvPr/>
        </p:nvSpPr>
        <p:spPr>
          <a:xfrm>
            <a:off x="6675120" y="4078224"/>
            <a:ext cx="36576" cy="82296"/>
          </a:xfrm>
          <a:prstGeom prst="rect">
            <a:avLst/>
          </a:prstGeom>
          <a:solidFill>
            <a:srgbClr val="1A2238"/>
          </a:solidFill>
          <a:ln w="12700">
            <a:solidFill>
              <a:srgbClr val="1A2238"/>
            </a:solidFill>
            <a:prstDash val="solid"/>
          </a:ln>
        </p:spPr>
      </p:sp>
      <p:sp>
        <p:nvSpPr>
          <p:cNvPr id="49" name="Shape 47"/>
          <p:cNvSpPr/>
          <p:nvPr/>
        </p:nvSpPr>
        <p:spPr>
          <a:xfrm>
            <a:off x="4754880" y="4160520"/>
            <a:ext cx="3931920" cy="384048"/>
          </a:xfrm>
          <a:prstGeom prst="rect">
            <a:avLst/>
          </a:prstGeom>
          <a:solidFill>
            <a:srgbClr val="FAFAF7"/>
          </a:solidFill>
          <a:ln w="6350">
            <a:solidFill>
              <a:srgbClr val="1A2238"/>
            </a:solidFill>
            <a:prstDash val="solid"/>
          </a:ln>
        </p:spPr>
      </p:sp>
      <p:sp>
        <p:nvSpPr>
          <p:cNvPr id="50" name="Text 48"/>
          <p:cNvSpPr/>
          <p:nvPr/>
        </p:nvSpPr>
        <p:spPr>
          <a:xfrm>
            <a:off x="4937760" y="4160520"/>
            <a:ext cx="365760" cy="384048"/>
          </a:xfrm>
          <a:prstGeom prst="rect">
            <a:avLst/>
          </a:prstGeom>
          <a:noFill/>
          <a:ln/>
        </p:spPr>
        <p:txBody>
          <a:bodyPr wrap="square" lIns="0" tIns="0" rIns="0" bIns="0" rtlCol="0" anchor="ctr"/>
          <a:lstStyle/>
          <a:p>
            <a:pPr indent="0" marL="0">
              <a:buNone/>
            </a:pPr>
            <a:r>
              <a:rPr lang="en-US" sz="1100" b="1" dirty="0">
                <a:solidFill>
                  <a:srgbClr val="1A2238"/>
                </a:solidFill>
                <a:latin typeface="Georgia" pitchFamily="34" charset="0"/>
                <a:ea typeface="Georgia" pitchFamily="34" charset="-122"/>
                <a:cs typeface="Georgia" pitchFamily="34" charset="-120"/>
              </a:rPr>
              <a:t>6.</a:t>
            </a:r>
            <a:endParaRPr lang="en-US" sz="1100" dirty="0"/>
          </a:p>
        </p:txBody>
      </p:sp>
      <p:sp>
        <p:nvSpPr>
          <p:cNvPr id="51" name="Text 49"/>
          <p:cNvSpPr/>
          <p:nvPr/>
        </p:nvSpPr>
        <p:spPr>
          <a:xfrm>
            <a:off x="5303520" y="4160520"/>
            <a:ext cx="3291840" cy="384048"/>
          </a:xfrm>
          <a:prstGeom prst="rect">
            <a:avLst/>
          </a:prstGeom>
          <a:noFill/>
          <a:ln/>
        </p:spPr>
        <p:txBody>
          <a:bodyPr wrap="square" lIns="0" tIns="0" rIns="0" bIns="0" rtlCol="0" anchor="ctr"/>
          <a:lstStyle/>
          <a:p>
            <a:pPr indent="0" marL="0">
              <a:buNone/>
            </a:pPr>
            <a:r>
              <a:rPr lang="en-US" sz="1100" dirty="0">
                <a:solidFill>
                  <a:srgbClr val="1A2238"/>
                </a:solidFill>
                <a:latin typeface="Georgia" pitchFamily="34" charset="0"/>
                <a:ea typeface="Georgia" pitchFamily="34" charset="-122"/>
                <a:cs typeface="Georgia" pitchFamily="34" charset="-120"/>
              </a:rPr>
              <a:t>CI/CD gating enforces standards</a:t>
            </a:r>
            <a:endParaRPr lang="en-US" sz="1100" dirty="0"/>
          </a:p>
        </p:txBody>
      </p:sp>
      <p:pic>
        <p:nvPicPr>
          <p:cNvPr id="52" name="Image 0" descr="preencoded.png">    </p:cNvPr>
          <p:cNvPicPr>
            <a:picLocks noChangeAspect="1"/>
          </p:cNvPicPr>
          <p:nvPr/>
        </p:nvPicPr>
        <p:blipFill>
          <a:blip r:embed="rId1"/>
          <a:stretch>
            <a:fillRect/>
          </a:stretch>
        </p:blipFill>
        <p:spPr>
          <a:xfrm>
            <a:off x="4434840" y="3017520"/>
            <a:ext cx="274320" cy="274320"/>
          </a:xfrm>
          <a:prstGeom prst="rect">
            <a:avLst/>
          </a:prstGeom>
        </p:spPr>
      </p:pic>
      <p:sp>
        <p:nvSpPr>
          <p:cNvPr id="53" name="Text 50"/>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What We Built in Port</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Shape 2"/>
          <p:cNvSpPr/>
          <p:nvPr/>
        </p:nvSpPr>
        <p:spPr>
          <a:xfrm>
            <a:off x="548640" y="155448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731520" y="1691640"/>
            <a:ext cx="640080" cy="1005840"/>
          </a:xfrm>
          <a:prstGeom prst="rect">
            <a:avLst/>
          </a:prstGeom>
          <a:noFill/>
          <a:ln/>
        </p:spPr>
        <p:txBody>
          <a:bodyPr wrap="square" lIns="0" tIns="0" rIns="0" bIns="0" rtlCol="0" anchor="t"/>
          <a:lstStyle/>
          <a:p>
            <a:pPr algn="l" indent="0" marL="0">
              <a:buNone/>
            </a:pPr>
            <a:r>
              <a:rPr lang="en-US" sz="5000" b="1" dirty="0">
                <a:solidFill>
                  <a:srgbClr val="FF6B5C"/>
                </a:solidFill>
                <a:latin typeface="Georgia" pitchFamily="34" charset="0"/>
                <a:ea typeface="Georgia" pitchFamily="34" charset="-122"/>
                <a:cs typeface="Georgia" pitchFamily="34" charset="-120"/>
              </a:rPr>
              <a:t>1</a:t>
            </a:r>
            <a:endParaRPr lang="en-US" sz="5000" dirty="0"/>
          </a:p>
        </p:txBody>
      </p:sp>
      <p:sp>
        <p:nvSpPr>
          <p:cNvPr id="6" name="Text 4"/>
          <p:cNvSpPr/>
          <p:nvPr/>
        </p:nvSpPr>
        <p:spPr>
          <a:xfrm>
            <a:off x="1508760" y="1828800"/>
            <a:ext cx="2743200" cy="411480"/>
          </a:xfrm>
          <a:prstGeom prst="rect">
            <a:avLst/>
          </a:prstGeom>
          <a:noFill/>
          <a:ln/>
        </p:spPr>
        <p:txBody>
          <a:bodyPr wrap="square" lIns="0" tIns="0" rIns="0" bIns="0" rtlCol="0" anchor="ctr"/>
          <a:lstStyle/>
          <a:p>
            <a:pPr indent="0" marL="0">
              <a:buNone/>
            </a:pPr>
            <a:r>
              <a:rPr lang="en-US" sz="1300" b="1" dirty="0">
                <a:solidFill>
                  <a:srgbClr val="1A2238"/>
                </a:solidFill>
                <a:latin typeface="Georgia" pitchFamily="34" charset="0"/>
                <a:ea typeface="Georgia" pitchFamily="34" charset="-122"/>
                <a:cs typeface="Georgia" pitchFamily="34" charset="-120"/>
              </a:rPr>
              <a:t>GitHub Integration</a:t>
            </a:r>
            <a:endParaRPr lang="en-US" sz="1300" dirty="0"/>
          </a:p>
        </p:txBody>
      </p:sp>
      <p:sp>
        <p:nvSpPr>
          <p:cNvPr id="7" name="Text 5"/>
          <p:cNvSpPr/>
          <p:nvPr/>
        </p:nvSpPr>
        <p:spPr>
          <a:xfrm>
            <a:off x="1508760" y="2267712"/>
            <a:ext cx="2743200" cy="548640"/>
          </a:xfrm>
          <a:prstGeom prst="rect">
            <a:avLst/>
          </a:prstGeom>
          <a:noFill/>
          <a:ln/>
        </p:spPr>
        <p:txBody>
          <a:bodyPr wrap="square" lIns="0" tIns="0" rIns="0" bIns="0" rtlCol="0" anchor="ctr"/>
          <a:lstStyle/>
          <a:p>
            <a:pPr indent="0" marL="0">
              <a:buNone/>
            </a:pPr>
            <a:r>
              <a:rPr lang="en-US" sz="1050" dirty="0">
                <a:solidFill>
                  <a:srgbClr val="5C6378"/>
                </a:solidFill>
                <a:latin typeface="Helvetica Neue" pitchFamily="34" charset="0"/>
                <a:ea typeface="Helvetica Neue" pitchFamily="34" charset="-122"/>
                <a:cs typeface="Helvetica Neue" pitchFamily="34" charset="-120"/>
              </a:rPr>
              <a:t>5 microservice repos auto-synced. README, CODEOWNERS, CI workflows ingested.</a:t>
            </a:r>
            <a:endParaRPr lang="en-US" sz="1050" dirty="0"/>
          </a:p>
        </p:txBody>
      </p:sp>
      <p:sp>
        <p:nvSpPr>
          <p:cNvPr id="8" name="Shape 6"/>
          <p:cNvSpPr/>
          <p:nvPr/>
        </p:nvSpPr>
        <p:spPr>
          <a:xfrm>
            <a:off x="4754880" y="155448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9" name="Text 7"/>
          <p:cNvSpPr/>
          <p:nvPr/>
        </p:nvSpPr>
        <p:spPr>
          <a:xfrm>
            <a:off x="4937760" y="1691640"/>
            <a:ext cx="640080" cy="1005840"/>
          </a:xfrm>
          <a:prstGeom prst="rect">
            <a:avLst/>
          </a:prstGeom>
          <a:noFill/>
          <a:ln/>
        </p:spPr>
        <p:txBody>
          <a:bodyPr wrap="square" lIns="0" tIns="0" rIns="0" bIns="0" rtlCol="0" anchor="t"/>
          <a:lstStyle/>
          <a:p>
            <a:pPr algn="l" indent="0" marL="0">
              <a:buNone/>
            </a:pPr>
            <a:r>
              <a:rPr lang="en-US" sz="5000" b="1" dirty="0">
                <a:solidFill>
                  <a:srgbClr val="FF6B5C"/>
                </a:solidFill>
                <a:latin typeface="Georgia" pitchFamily="34" charset="0"/>
                <a:ea typeface="Georgia" pitchFamily="34" charset="-122"/>
                <a:cs typeface="Georgia" pitchFamily="34" charset="-120"/>
              </a:rPr>
              <a:t>2</a:t>
            </a:r>
            <a:endParaRPr lang="en-US" sz="5000" dirty="0"/>
          </a:p>
        </p:txBody>
      </p:sp>
      <p:sp>
        <p:nvSpPr>
          <p:cNvPr id="10" name="Text 8"/>
          <p:cNvSpPr/>
          <p:nvPr/>
        </p:nvSpPr>
        <p:spPr>
          <a:xfrm>
            <a:off x="5715000" y="1828800"/>
            <a:ext cx="2743200" cy="411480"/>
          </a:xfrm>
          <a:prstGeom prst="rect">
            <a:avLst/>
          </a:prstGeom>
          <a:noFill/>
          <a:ln/>
        </p:spPr>
        <p:txBody>
          <a:bodyPr wrap="square" lIns="0" tIns="0" rIns="0" bIns="0" rtlCol="0" anchor="ctr"/>
          <a:lstStyle/>
          <a:p>
            <a:pPr indent="0" marL="0">
              <a:buNone/>
            </a:pPr>
            <a:r>
              <a:rPr lang="en-US" sz="1300" b="1" dirty="0">
                <a:solidFill>
                  <a:srgbClr val="1A2238"/>
                </a:solidFill>
                <a:latin typeface="Georgia" pitchFamily="34" charset="0"/>
                <a:ea typeface="Georgia" pitchFamily="34" charset="-122"/>
                <a:cs typeface="Georgia" pitchFamily="34" charset="-120"/>
              </a:rPr>
              <a:t>Walmart Production Readiness Scorecard</a:t>
            </a:r>
            <a:endParaRPr lang="en-US" sz="1300" dirty="0"/>
          </a:p>
        </p:txBody>
      </p:sp>
      <p:sp>
        <p:nvSpPr>
          <p:cNvPr id="11" name="Text 9"/>
          <p:cNvSpPr/>
          <p:nvPr/>
        </p:nvSpPr>
        <p:spPr>
          <a:xfrm>
            <a:off x="5715000" y="2267712"/>
            <a:ext cx="2743200" cy="548640"/>
          </a:xfrm>
          <a:prstGeom prst="rect">
            <a:avLst/>
          </a:prstGeom>
          <a:noFill/>
          <a:ln/>
        </p:spPr>
        <p:txBody>
          <a:bodyPr wrap="square" lIns="0" tIns="0" rIns="0" bIns="0" rtlCol="0" anchor="ctr"/>
          <a:lstStyle/>
          <a:p>
            <a:pPr indent="0" marL="0">
              <a:buNone/>
            </a:pPr>
            <a:r>
              <a:rPr lang="en-US" sz="1050" dirty="0">
                <a:solidFill>
                  <a:srgbClr val="5C6378"/>
                </a:solidFill>
                <a:latin typeface="Helvetica Neue" pitchFamily="34" charset="0"/>
                <a:ea typeface="Helvetica Neue" pitchFamily="34" charset="-122"/>
                <a:cs typeface="Helvetica Neue" pitchFamily="34" charset="-120"/>
              </a:rPr>
              <a:t>3 custom rules across Silver and Gold. Continuously evaluated per service.</a:t>
            </a:r>
            <a:endParaRPr lang="en-US" sz="1050" dirty="0"/>
          </a:p>
        </p:txBody>
      </p:sp>
      <p:sp>
        <p:nvSpPr>
          <p:cNvPr id="12" name="Shape 10"/>
          <p:cNvSpPr/>
          <p:nvPr/>
        </p:nvSpPr>
        <p:spPr>
          <a:xfrm>
            <a:off x="548640" y="310896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13" name="Text 11"/>
          <p:cNvSpPr/>
          <p:nvPr/>
        </p:nvSpPr>
        <p:spPr>
          <a:xfrm>
            <a:off x="731520" y="3246120"/>
            <a:ext cx="640080" cy="1005840"/>
          </a:xfrm>
          <a:prstGeom prst="rect">
            <a:avLst/>
          </a:prstGeom>
          <a:noFill/>
          <a:ln/>
        </p:spPr>
        <p:txBody>
          <a:bodyPr wrap="square" lIns="0" tIns="0" rIns="0" bIns="0" rtlCol="0" anchor="t"/>
          <a:lstStyle/>
          <a:p>
            <a:pPr algn="l" indent="0" marL="0">
              <a:buNone/>
            </a:pPr>
            <a:r>
              <a:rPr lang="en-US" sz="5000" b="1" dirty="0">
                <a:solidFill>
                  <a:srgbClr val="FF6B5C"/>
                </a:solidFill>
                <a:latin typeface="Georgia" pitchFamily="34" charset="0"/>
                <a:ea typeface="Georgia" pitchFamily="34" charset="-122"/>
                <a:cs typeface="Georgia" pitchFamily="34" charset="-120"/>
              </a:rPr>
              <a:t>3</a:t>
            </a:r>
            <a:endParaRPr lang="en-US" sz="5000" dirty="0"/>
          </a:p>
        </p:txBody>
      </p:sp>
      <p:sp>
        <p:nvSpPr>
          <p:cNvPr id="14" name="Text 12"/>
          <p:cNvSpPr/>
          <p:nvPr/>
        </p:nvSpPr>
        <p:spPr>
          <a:xfrm>
            <a:off x="1508760" y="3383280"/>
            <a:ext cx="2743200" cy="411480"/>
          </a:xfrm>
          <a:prstGeom prst="rect">
            <a:avLst/>
          </a:prstGeom>
          <a:noFill/>
          <a:ln/>
        </p:spPr>
        <p:txBody>
          <a:bodyPr wrap="square" lIns="0" tIns="0" rIns="0" bIns="0" rtlCol="0" anchor="ctr"/>
          <a:lstStyle/>
          <a:p>
            <a:pPr indent="0" marL="0">
              <a:buNone/>
            </a:pPr>
            <a:r>
              <a:rPr lang="en-US" sz="1300" b="1" dirty="0">
                <a:solidFill>
                  <a:srgbClr val="1A2238"/>
                </a:solidFill>
                <a:latin typeface="Georgia" pitchFamily="34" charset="0"/>
                <a:ea typeface="Georgia" pitchFamily="34" charset="-122"/>
                <a:cs typeface="Georgia" pitchFamily="34" charset="-120"/>
              </a:rPr>
              <a:t>Request Prod Review Action</a:t>
            </a:r>
            <a:endParaRPr lang="en-US" sz="1300" dirty="0"/>
          </a:p>
        </p:txBody>
      </p:sp>
      <p:sp>
        <p:nvSpPr>
          <p:cNvPr id="15" name="Text 13"/>
          <p:cNvSpPr/>
          <p:nvPr/>
        </p:nvSpPr>
        <p:spPr>
          <a:xfrm>
            <a:off x="1508760" y="3822192"/>
            <a:ext cx="2743200" cy="548640"/>
          </a:xfrm>
          <a:prstGeom prst="rect">
            <a:avLst/>
          </a:prstGeom>
          <a:noFill/>
          <a:ln/>
        </p:spPr>
        <p:txBody>
          <a:bodyPr wrap="square" lIns="0" tIns="0" rIns="0" bIns="0" rtlCol="0" anchor="ctr"/>
          <a:lstStyle/>
          <a:p>
            <a:pPr indent="0" marL="0">
              <a:buNone/>
            </a:pPr>
            <a:r>
              <a:rPr lang="en-US" sz="1050" dirty="0">
                <a:solidFill>
                  <a:srgbClr val="5C6378"/>
                </a:solidFill>
                <a:latin typeface="Helvetica Neue" pitchFamily="34" charset="0"/>
                <a:ea typeface="Helvetica Neue" pitchFamily="34" charset="-122"/>
                <a:cs typeface="Helvetica Neue" pitchFamily="34" charset="-120"/>
              </a:rPr>
              <a:t>Day-2 self-service action using UPSERT_ENTITY. No backend required.</a:t>
            </a:r>
            <a:endParaRPr lang="en-US" sz="1050" dirty="0"/>
          </a:p>
        </p:txBody>
      </p:sp>
      <p:sp>
        <p:nvSpPr>
          <p:cNvPr id="16" name="Shape 14"/>
          <p:cNvSpPr/>
          <p:nvPr/>
        </p:nvSpPr>
        <p:spPr>
          <a:xfrm>
            <a:off x="4754880" y="3108960"/>
            <a:ext cx="3840480" cy="1325880"/>
          </a:xfrm>
          <a:prstGeom prst="rect">
            <a:avLst/>
          </a:prstGeom>
          <a:solidFill>
            <a:srgbClr val="FAFAF7"/>
          </a:solidFill>
          <a:ln w="6350">
            <a:solidFill>
              <a:srgbClr val="E5E5E0"/>
            </a:solidFill>
            <a:prstDash val="solid"/>
          </a:ln>
          <a:effectLst>
            <a:outerShdw sx="100000" sy="100000" kx="0" ky="0" algn="bl" rotWithShape="0" blurRad="101600" dist="25400" dir="5400000">
              <a:srgbClr val="000000">
                <a:alpha val="8000"/>
              </a:srgbClr>
            </a:outerShdw>
          </a:effectLst>
        </p:spPr>
      </p:sp>
      <p:sp>
        <p:nvSpPr>
          <p:cNvPr id="17" name="Text 15"/>
          <p:cNvSpPr/>
          <p:nvPr/>
        </p:nvSpPr>
        <p:spPr>
          <a:xfrm>
            <a:off x="4937760" y="3246120"/>
            <a:ext cx="640080" cy="1005840"/>
          </a:xfrm>
          <a:prstGeom prst="rect">
            <a:avLst/>
          </a:prstGeom>
          <a:noFill/>
          <a:ln/>
        </p:spPr>
        <p:txBody>
          <a:bodyPr wrap="square" lIns="0" tIns="0" rIns="0" bIns="0" rtlCol="0" anchor="t"/>
          <a:lstStyle/>
          <a:p>
            <a:pPr algn="l" indent="0" marL="0">
              <a:buNone/>
            </a:pPr>
            <a:r>
              <a:rPr lang="en-US" sz="5000" b="1" dirty="0">
                <a:solidFill>
                  <a:srgbClr val="FF6B5C"/>
                </a:solidFill>
                <a:latin typeface="Georgia" pitchFamily="34" charset="0"/>
                <a:ea typeface="Georgia" pitchFamily="34" charset="-122"/>
                <a:cs typeface="Georgia" pitchFamily="34" charset="-120"/>
              </a:rPr>
              <a:t>4</a:t>
            </a:r>
            <a:endParaRPr lang="en-US" sz="5000" dirty="0"/>
          </a:p>
        </p:txBody>
      </p:sp>
      <p:sp>
        <p:nvSpPr>
          <p:cNvPr id="18" name="Text 16"/>
          <p:cNvSpPr/>
          <p:nvPr/>
        </p:nvSpPr>
        <p:spPr>
          <a:xfrm>
            <a:off x="5715000" y="3383280"/>
            <a:ext cx="2743200" cy="411480"/>
          </a:xfrm>
          <a:prstGeom prst="rect">
            <a:avLst/>
          </a:prstGeom>
          <a:noFill/>
          <a:ln/>
        </p:spPr>
        <p:txBody>
          <a:bodyPr wrap="square" lIns="0" tIns="0" rIns="0" bIns="0" rtlCol="0" anchor="ctr"/>
          <a:lstStyle/>
          <a:p>
            <a:pPr indent="0" marL="0">
              <a:buNone/>
            </a:pPr>
            <a:r>
              <a:rPr lang="en-US" sz="1300" b="1" dirty="0">
                <a:solidFill>
                  <a:srgbClr val="1A2238"/>
                </a:solidFill>
                <a:latin typeface="Georgia" pitchFamily="34" charset="0"/>
                <a:ea typeface="Georgia" pitchFamily="34" charset="-122"/>
                <a:cs typeface="Georgia" pitchFamily="34" charset="-120"/>
              </a:rPr>
              <a:t>Production Readiness Dashboard</a:t>
            </a:r>
            <a:endParaRPr lang="en-US" sz="1300" dirty="0"/>
          </a:p>
        </p:txBody>
      </p:sp>
      <p:sp>
        <p:nvSpPr>
          <p:cNvPr id="19" name="Text 17"/>
          <p:cNvSpPr/>
          <p:nvPr/>
        </p:nvSpPr>
        <p:spPr>
          <a:xfrm>
            <a:off x="5715000" y="3822192"/>
            <a:ext cx="2743200" cy="548640"/>
          </a:xfrm>
          <a:prstGeom prst="rect">
            <a:avLst/>
          </a:prstGeom>
          <a:noFill/>
          <a:ln/>
        </p:spPr>
        <p:txBody>
          <a:bodyPr wrap="square" lIns="0" tIns="0" rIns="0" bIns="0" rtlCol="0" anchor="ctr"/>
          <a:lstStyle/>
          <a:p>
            <a:pPr indent="0" marL="0">
              <a:buNone/>
            </a:pPr>
            <a:r>
              <a:rPr lang="en-US" sz="1050" dirty="0">
                <a:solidFill>
                  <a:srgbClr val="5C6378"/>
                </a:solidFill>
                <a:latin typeface="Helvetica Neue" pitchFamily="34" charset="0"/>
                <a:ea typeface="Helvetica Neue" pitchFamily="34" charset="-122"/>
                <a:cs typeface="Helvetica Neue" pitchFamily="34" charset="-120"/>
              </a:rPr>
              <a:t>All services, Gold path, and Needs Attention with embedded action card.</a:t>
            </a:r>
            <a:endParaRPr lang="en-US" sz="1050" dirty="0"/>
          </a:p>
        </p:txBody>
      </p:sp>
      <p:sp>
        <p:nvSpPr>
          <p:cNvPr id="20" name="Text 18"/>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The Scorecard: 3 Rules</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Shape 2"/>
          <p:cNvSpPr/>
          <p:nvPr/>
        </p:nvSpPr>
        <p:spPr>
          <a:xfrm>
            <a:off x="457200" y="1554480"/>
            <a:ext cx="8229600" cy="914400"/>
          </a:xfrm>
          <a:prstGeom prst="rect">
            <a:avLst/>
          </a:prstGeom>
          <a:solidFill>
            <a:srgbClr val="FAFAF7"/>
          </a:solidFill>
          <a:ln w="6350">
            <a:solidFill>
              <a:srgbClr val="E5E5E0"/>
            </a:solidFill>
            <a:prstDash val="solid"/>
          </a:ln>
        </p:spPr>
      </p:sp>
      <p:sp>
        <p:nvSpPr>
          <p:cNvPr id="5" name="Text 3"/>
          <p:cNvSpPr/>
          <p:nvPr/>
        </p:nvSpPr>
        <p:spPr>
          <a:xfrm>
            <a:off x="640080" y="1691640"/>
            <a:ext cx="2011680" cy="365760"/>
          </a:xfrm>
          <a:prstGeom prst="rect">
            <a:avLst/>
          </a:prstGeom>
          <a:noFill/>
          <a:ln/>
        </p:spPr>
        <p:txBody>
          <a:bodyPr wrap="square" lIns="0" tIns="0" rIns="0" bIns="0" rtlCol="0" anchor="ctr"/>
          <a:lstStyle/>
          <a:p>
            <a:pPr indent="0" marL="0">
              <a:buNone/>
            </a:pPr>
            <a:r>
              <a:rPr lang="en-US" sz="2200" b="1" dirty="0">
                <a:solidFill>
                  <a:srgbClr val="B6BAC8"/>
                </a:solidFill>
                <a:latin typeface="Georgia" pitchFamily="34" charset="0"/>
                <a:ea typeface="Georgia" pitchFamily="34" charset="-122"/>
                <a:cs typeface="Georgia" pitchFamily="34" charset="-120"/>
              </a:rPr>
              <a:t>Basic</a:t>
            </a:r>
            <a:endParaRPr lang="en-US" sz="2200" dirty="0"/>
          </a:p>
        </p:txBody>
      </p:sp>
      <p:sp>
        <p:nvSpPr>
          <p:cNvPr id="6" name="Text 4"/>
          <p:cNvSpPr/>
          <p:nvPr/>
        </p:nvSpPr>
        <p:spPr>
          <a:xfrm>
            <a:off x="640080" y="2103120"/>
            <a:ext cx="2011680" cy="274320"/>
          </a:xfrm>
          <a:prstGeom prst="rect">
            <a:avLst/>
          </a:prstGeom>
          <a:noFill/>
          <a:ln/>
        </p:spPr>
        <p:txBody>
          <a:bodyPr wrap="square" lIns="0" tIns="0" rIns="0" bIns="0" rtlCol="0" anchor="ctr"/>
          <a:lstStyle/>
          <a:p>
            <a:pPr indent="0" marL="0">
              <a:buNone/>
            </a:pPr>
            <a:r>
              <a:rPr lang="en-US" sz="1000" i="1" dirty="0">
                <a:solidFill>
                  <a:srgbClr val="5C6378"/>
                </a:solidFill>
                <a:latin typeface="Helvetica Neue" pitchFamily="34" charset="0"/>
                <a:ea typeface="Helvetica Neue" pitchFamily="34" charset="-122"/>
                <a:cs typeface="Helvetica Neue" pitchFamily="34" charset="-120"/>
              </a:rPr>
              <a:t>Default — no rules passed yet</a:t>
            </a:r>
            <a:endParaRPr lang="en-US" sz="1000" dirty="0"/>
          </a:p>
        </p:txBody>
      </p:sp>
      <p:sp>
        <p:nvSpPr>
          <p:cNvPr id="7" name="Text 5"/>
          <p:cNvSpPr/>
          <p:nvPr/>
        </p:nvSpPr>
        <p:spPr>
          <a:xfrm>
            <a:off x="2926080" y="1719072"/>
            <a:ext cx="5669280" cy="320040"/>
          </a:xfrm>
          <a:prstGeom prst="rect">
            <a:avLst/>
          </a:prstGeom>
          <a:noFill/>
          <a:ln/>
        </p:spPr>
        <p:txBody>
          <a:bodyPr wrap="square" lIns="0" tIns="0" rIns="0" bIns="0" rtlCol="0" anchor="ctr"/>
          <a:lstStyle/>
          <a:p>
            <a:pPr marL="342900" indent="-342900">
              <a:buSzPct val="100000"/>
              <a:buChar char="▪"/>
            </a:pPr>
            <a:r>
              <a:rPr lang="en-US" sz="1200" dirty="0">
                <a:solidFill>
                  <a:srgbClr val="1A2238"/>
                </a:solidFill>
                <a:latin typeface="Georgia" pitchFamily="34" charset="0"/>
                <a:ea typeface="Georgia" pitchFamily="34" charset="-122"/>
                <a:cs typeface="Georgia" pitchFamily="34" charset="-120"/>
              </a:rPr>
              <a:t>Starting point for every new service</a:t>
            </a:r>
            <a:endParaRPr lang="en-US" sz="1200" dirty="0"/>
          </a:p>
        </p:txBody>
      </p:sp>
      <p:sp>
        <p:nvSpPr>
          <p:cNvPr id="8" name="Shape 6"/>
          <p:cNvSpPr/>
          <p:nvPr/>
        </p:nvSpPr>
        <p:spPr>
          <a:xfrm>
            <a:off x="457200" y="2606040"/>
            <a:ext cx="8229600" cy="914400"/>
          </a:xfrm>
          <a:prstGeom prst="rect">
            <a:avLst/>
          </a:prstGeom>
          <a:solidFill>
            <a:srgbClr val="FAFAF7"/>
          </a:solidFill>
          <a:ln w="6350">
            <a:solidFill>
              <a:srgbClr val="E5E5E0"/>
            </a:solidFill>
            <a:prstDash val="solid"/>
          </a:ln>
        </p:spPr>
      </p:sp>
      <p:sp>
        <p:nvSpPr>
          <p:cNvPr id="9" name="Text 7"/>
          <p:cNvSpPr/>
          <p:nvPr/>
        </p:nvSpPr>
        <p:spPr>
          <a:xfrm>
            <a:off x="640080" y="2743200"/>
            <a:ext cx="2011680" cy="365760"/>
          </a:xfrm>
          <a:prstGeom prst="rect">
            <a:avLst/>
          </a:prstGeom>
          <a:noFill/>
          <a:ln/>
        </p:spPr>
        <p:txBody>
          <a:bodyPr wrap="square" lIns="0" tIns="0" rIns="0" bIns="0" rtlCol="0" anchor="ctr"/>
          <a:lstStyle/>
          <a:p>
            <a:pPr indent="0" marL="0">
              <a:buNone/>
            </a:pPr>
            <a:r>
              <a:rPr lang="en-US" sz="2200" b="1" dirty="0">
                <a:solidFill>
                  <a:srgbClr val="1A2238"/>
                </a:solidFill>
                <a:latin typeface="Georgia" pitchFamily="34" charset="0"/>
                <a:ea typeface="Georgia" pitchFamily="34" charset="-122"/>
                <a:cs typeface="Georgia" pitchFamily="34" charset="-120"/>
              </a:rPr>
              <a:t>Silver</a:t>
            </a:r>
            <a:endParaRPr lang="en-US" sz="2200" dirty="0"/>
          </a:p>
        </p:txBody>
      </p:sp>
      <p:sp>
        <p:nvSpPr>
          <p:cNvPr id="10" name="Text 8"/>
          <p:cNvSpPr/>
          <p:nvPr/>
        </p:nvSpPr>
        <p:spPr>
          <a:xfrm>
            <a:off x="640080" y="3154680"/>
            <a:ext cx="2011680" cy="274320"/>
          </a:xfrm>
          <a:prstGeom prst="rect">
            <a:avLst/>
          </a:prstGeom>
          <a:noFill/>
          <a:ln/>
        </p:spPr>
        <p:txBody>
          <a:bodyPr wrap="square" lIns="0" tIns="0" rIns="0" bIns="0" rtlCol="0" anchor="ctr"/>
          <a:lstStyle/>
          <a:p>
            <a:pPr indent="0" marL="0">
              <a:buNone/>
            </a:pPr>
            <a:r>
              <a:rPr lang="en-US" sz="1000" i="1" dirty="0">
                <a:solidFill>
                  <a:srgbClr val="5C6378"/>
                </a:solidFill>
                <a:latin typeface="Helvetica Neue" pitchFamily="34" charset="0"/>
                <a:ea typeface="Helvetica Neue" pitchFamily="34" charset="-122"/>
                <a:cs typeface="Helvetica Neue" pitchFamily="34" charset="-120"/>
              </a:rPr>
              <a:t>Operationally sound</a:t>
            </a:r>
            <a:endParaRPr lang="en-US" sz="1000" dirty="0"/>
          </a:p>
        </p:txBody>
      </p:sp>
      <p:sp>
        <p:nvSpPr>
          <p:cNvPr id="11" name="Text 9"/>
          <p:cNvSpPr/>
          <p:nvPr/>
        </p:nvSpPr>
        <p:spPr>
          <a:xfrm>
            <a:off x="2926080" y="2770632"/>
            <a:ext cx="5669280" cy="320040"/>
          </a:xfrm>
          <a:prstGeom prst="rect">
            <a:avLst/>
          </a:prstGeom>
          <a:noFill/>
          <a:ln/>
        </p:spPr>
        <p:txBody>
          <a:bodyPr wrap="square" lIns="0" tIns="0" rIns="0" bIns="0" rtlCol="0" anchor="ctr"/>
          <a:lstStyle/>
          <a:p>
            <a:pPr marL="342900" indent="-342900">
              <a:buSzPct val="100000"/>
              <a:buChar char="▪"/>
            </a:pPr>
            <a:r>
              <a:rPr lang="en-US" sz="1200" dirty="0">
                <a:solidFill>
                  <a:srgbClr val="1A2238"/>
                </a:solidFill>
                <a:latin typeface="Georgia" pitchFamily="34" charset="0"/>
                <a:ea typeface="Georgia" pitchFamily="34" charset="-122"/>
                <a:cs typeface="Georgia" pitchFamily="34" charset="-120"/>
              </a:rPr>
              <a:t>Has Monitoring (Datadog) — hasMonitoring = true</a:t>
            </a:r>
            <a:endParaRPr lang="en-US" sz="1200" dirty="0"/>
          </a:p>
        </p:txBody>
      </p:sp>
      <p:sp>
        <p:nvSpPr>
          <p:cNvPr id="12" name="Text 10"/>
          <p:cNvSpPr/>
          <p:nvPr/>
        </p:nvSpPr>
        <p:spPr>
          <a:xfrm>
            <a:off x="2926080" y="3136392"/>
            <a:ext cx="5669280" cy="320040"/>
          </a:xfrm>
          <a:prstGeom prst="rect">
            <a:avLst/>
          </a:prstGeom>
          <a:noFill/>
          <a:ln/>
        </p:spPr>
        <p:txBody>
          <a:bodyPr wrap="square" lIns="0" tIns="0" rIns="0" bIns="0" rtlCol="0" anchor="ctr"/>
          <a:lstStyle/>
          <a:p>
            <a:pPr marL="342900" indent="-342900">
              <a:buSzPct val="100000"/>
              <a:buChar char="▪"/>
            </a:pPr>
            <a:r>
              <a:rPr lang="en-US" sz="1200" dirty="0">
                <a:solidFill>
                  <a:srgbClr val="1A2238"/>
                </a:solidFill>
                <a:latin typeface="Georgia" pitchFamily="34" charset="0"/>
                <a:ea typeface="Georgia" pitchFamily="34" charset="-122"/>
                <a:cs typeface="Georgia" pitchFamily="34" charset="-120"/>
              </a:rPr>
              <a:t>No Critical Vulnerabilities (Snyk) — criticalVulns ≤ 0</a:t>
            </a:r>
            <a:endParaRPr lang="en-US" sz="1200" dirty="0"/>
          </a:p>
        </p:txBody>
      </p:sp>
      <p:sp>
        <p:nvSpPr>
          <p:cNvPr id="13" name="Shape 11"/>
          <p:cNvSpPr/>
          <p:nvPr/>
        </p:nvSpPr>
        <p:spPr>
          <a:xfrm>
            <a:off x="457200" y="3657600"/>
            <a:ext cx="8229600" cy="914400"/>
          </a:xfrm>
          <a:prstGeom prst="rect">
            <a:avLst/>
          </a:prstGeom>
          <a:solidFill>
            <a:srgbClr val="FAFAF7"/>
          </a:solidFill>
          <a:ln w="6350">
            <a:solidFill>
              <a:srgbClr val="E5E5E0"/>
            </a:solidFill>
            <a:prstDash val="solid"/>
          </a:ln>
        </p:spPr>
      </p:sp>
      <p:sp>
        <p:nvSpPr>
          <p:cNvPr id="14" name="Text 12"/>
          <p:cNvSpPr/>
          <p:nvPr/>
        </p:nvSpPr>
        <p:spPr>
          <a:xfrm>
            <a:off x="640080" y="3794760"/>
            <a:ext cx="2011680" cy="365760"/>
          </a:xfrm>
          <a:prstGeom prst="rect">
            <a:avLst/>
          </a:prstGeom>
          <a:noFill/>
          <a:ln/>
        </p:spPr>
        <p:txBody>
          <a:bodyPr wrap="square" lIns="0" tIns="0" rIns="0" bIns="0" rtlCol="0" anchor="ctr"/>
          <a:lstStyle/>
          <a:p>
            <a:pPr indent="0" marL="0">
              <a:buNone/>
            </a:pPr>
            <a:r>
              <a:rPr lang="en-US" sz="2200" b="1" dirty="0">
                <a:solidFill>
                  <a:srgbClr val="FF6B5C"/>
                </a:solidFill>
                <a:latin typeface="Georgia" pitchFamily="34" charset="0"/>
                <a:ea typeface="Georgia" pitchFamily="34" charset="-122"/>
                <a:cs typeface="Georgia" pitchFamily="34" charset="-120"/>
              </a:rPr>
              <a:t>Gold</a:t>
            </a:r>
            <a:endParaRPr lang="en-US" sz="2200" dirty="0"/>
          </a:p>
        </p:txBody>
      </p:sp>
      <p:sp>
        <p:nvSpPr>
          <p:cNvPr id="15" name="Text 13"/>
          <p:cNvSpPr/>
          <p:nvPr/>
        </p:nvSpPr>
        <p:spPr>
          <a:xfrm>
            <a:off x="640080" y="4206240"/>
            <a:ext cx="2011680" cy="274320"/>
          </a:xfrm>
          <a:prstGeom prst="rect">
            <a:avLst/>
          </a:prstGeom>
          <a:noFill/>
          <a:ln/>
        </p:spPr>
        <p:txBody>
          <a:bodyPr wrap="square" lIns="0" tIns="0" rIns="0" bIns="0" rtlCol="0" anchor="ctr"/>
          <a:lstStyle/>
          <a:p>
            <a:pPr indent="0" marL="0">
              <a:buNone/>
            </a:pPr>
            <a:r>
              <a:rPr lang="en-US" sz="1000" i="1" dirty="0">
                <a:solidFill>
                  <a:srgbClr val="5C6378"/>
                </a:solidFill>
                <a:latin typeface="Helvetica Neue" pitchFamily="34" charset="0"/>
                <a:ea typeface="Helvetica Neue" pitchFamily="34" charset="-122"/>
                <a:cs typeface="Helvetica Neue" pitchFamily="34" charset="-120"/>
              </a:rPr>
              <a:t>Production-ready, excellence</a:t>
            </a:r>
            <a:endParaRPr lang="en-US" sz="1000" dirty="0"/>
          </a:p>
        </p:txBody>
      </p:sp>
      <p:sp>
        <p:nvSpPr>
          <p:cNvPr id="16" name="Text 14"/>
          <p:cNvSpPr/>
          <p:nvPr/>
        </p:nvSpPr>
        <p:spPr>
          <a:xfrm>
            <a:off x="2926080" y="3822192"/>
            <a:ext cx="5669280" cy="320040"/>
          </a:xfrm>
          <a:prstGeom prst="rect">
            <a:avLst/>
          </a:prstGeom>
          <a:noFill/>
          <a:ln/>
        </p:spPr>
        <p:txBody>
          <a:bodyPr wrap="square" lIns="0" tIns="0" rIns="0" bIns="0" rtlCol="0" anchor="ctr"/>
          <a:lstStyle/>
          <a:p>
            <a:pPr marL="342900" indent="-342900">
              <a:buSzPct val="100000"/>
              <a:buChar char="▪"/>
            </a:pPr>
            <a:r>
              <a:rPr lang="en-US" sz="1200" dirty="0">
                <a:solidFill>
                  <a:srgbClr val="1A2238"/>
                </a:solidFill>
                <a:latin typeface="Georgia" pitchFamily="34" charset="0"/>
                <a:ea typeface="Georgia" pitchFamily="34" charset="-122"/>
                <a:cs typeface="Georgia" pitchFamily="34" charset="-120"/>
              </a:rPr>
              <a:t>Has On-Call Runbook — hasRunbook = true</a:t>
            </a:r>
            <a:endParaRPr lang="en-US" sz="1200" dirty="0"/>
          </a:p>
        </p:txBody>
      </p:sp>
      <p:sp>
        <p:nvSpPr>
          <p:cNvPr id="17" name="Text 15"/>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Self-Service: Request Production Readiness Review</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Text 2"/>
          <p:cNvSpPr/>
          <p:nvPr/>
        </p:nvSpPr>
        <p:spPr>
          <a:xfrm>
            <a:off x="548640" y="1508760"/>
            <a:ext cx="4023360" cy="274320"/>
          </a:xfrm>
          <a:prstGeom prst="rect">
            <a:avLst/>
          </a:prstGeom>
          <a:noFill/>
          <a:ln/>
        </p:spPr>
        <p:txBody>
          <a:bodyPr wrap="square" lIns="0" tIns="0" rIns="0" bIns="0" rtlCol="0" anchor="ctr"/>
          <a:lstStyle/>
          <a:p>
            <a:pPr indent="0" marL="0">
              <a:buNone/>
            </a:pPr>
            <a:r>
              <a:rPr lang="en-US" sz="1000" b="1" spc="400" kern="0" dirty="0">
                <a:solidFill>
                  <a:srgbClr val="1A2238"/>
                </a:solidFill>
                <a:latin typeface="Helvetica Neue" pitchFamily="34" charset="0"/>
                <a:ea typeface="Helvetica Neue" pitchFamily="34" charset="-122"/>
                <a:cs typeface="Helvetica Neue" pitchFamily="34" charset="-120"/>
              </a:rPr>
              <a:t>CONFIGURATION</a:t>
            </a:r>
            <a:endParaRPr lang="en-US" sz="1000" dirty="0"/>
          </a:p>
        </p:txBody>
      </p:sp>
      <p:sp>
        <p:nvSpPr>
          <p:cNvPr id="5" name="Text 3"/>
          <p:cNvSpPr/>
          <p:nvPr/>
        </p:nvSpPr>
        <p:spPr>
          <a:xfrm>
            <a:off x="548640" y="1874520"/>
            <a:ext cx="4023360" cy="2743200"/>
          </a:xfrm>
          <a:prstGeom prst="rect">
            <a:avLst/>
          </a:prstGeom>
          <a:noFill/>
          <a:ln/>
        </p:spPr>
        <p:txBody>
          <a:bodyPr wrap="square" lIns="0" tIns="0" rIns="0" bIns="0" rtlCol="0" anchor="ctr"/>
          <a:lstStyle/>
          <a:p>
            <a:pPr indent="0" marL="0">
              <a:buNone/>
            </a:pPr>
            <a:r>
              <a:rPr lang="en-US" sz="1200" b="1" dirty="0">
                <a:solidFill>
                  <a:srgbClr val="1A2238"/>
                </a:solidFill>
                <a:latin typeface="Georgia" pitchFamily="34" charset="0"/>
                <a:ea typeface="Georgia" pitchFamily="34" charset="-122"/>
                <a:cs typeface="Georgia" pitchFamily="34" charset="-120"/>
              </a:rPr>
              <a:t>Type   </a:t>
            </a:r>
            <a:pPr indent="0" marL="0">
              <a:buNone/>
            </a:pPr>
            <a:r>
              <a:rPr lang="en-US" sz="1200" dirty="0">
                <a:solidFill>
                  <a:srgbClr val="5C6378"/>
                </a:solidFill>
                <a:latin typeface="Georgia" pitchFamily="34" charset="0"/>
                <a:ea typeface="Georgia" pitchFamily="34" charset="-122"/>
                <a:cs typeface="Georgia" pitchFamily="34" charset="-120"/>
              </a:rPr>
              <a:t>Day-2 — operates on existing service
</a:t>
            </a:r>
            <a:pPr indent="0" marL="0">
              <a:buNone/>
            </a:pPr>
            <a:r>
              <a:rPr lang="en-US" sz="1200" b="1" dirty="0">
                <a:solidFill>
                  <a:srgbClr val="1A2238"/>
                </a:solidFill>
                <a:latin typeface="Georgia" pitchFamily="34" charset="0"/>
                <a:ea typeface="Georgia" pitchFamily="34" charset="-122"/>
                <a:cs typeface="Georgia" pitchFamily="34" charset="-120"/>
              </a:rPr>
              <a:t>Trigger   </a:t>
            </a:r>
            <a:pPr indent="0" marL="0">
              <a:buNone/>
            </a:pPr>
            <a:r>
              <a:rPr lang="en-US" sz="1200" dirty="0">
                <a:solidFill>
                  <a:srgbClr val="5C6378"/>
                </a:solidFill>
                <a:latin typeface="Georgia" pitchFamily="34" charset="0"/>
                <a:ea typeface="Georgia" pitchFamily="34" charset="-122"/>
                <a:cs typeface="Georgia" pitchFamily="34" charset="-120"/>
              </a:rPr>
              <a:t>Developer clicks "Request Prod Review"
</a:t>
            </a:r>
            <a:pPr indent="0" marL="0">
              <a:buNone/>
            </a:pPr>
            <a:r>
              <a:rPr lang="en-US" sz="1200" b="1" dirty="0">
                <a:solidFill>
                  <a:srgbClr val="1A2238"/>
                </a:solidFill>
                <a:latin typeface="Georgia" pitchFamily="34" charset="0"/>
                <a:ea typeface="Georgia" pitchFamily="34" charset="-122"/>
                <a:cs typeface="Georgia" pitchFamily="34" charset="-120"/>
              </a:rPr>
              <a:t>Inputs
</a:t>
            </a:r>
            <a:pPr indent="0" marL="0">
              <a:buNone/>
            </a:pPr>
            <a:r>
              <a:rPr lang="en-US" sz="1200" dirty="0">
                <a:solidFill>
                  <a:srgbClr val="5C6378"/>
                </a:solidFill>
                <a:latin typeface="Georgia" pitchFamily="34" charset="0"/>
                <a:ea typeface="Georgia" pitchFamily="34" charset="-122"/>
                <a:cs typeface="Georgia" pitchFamily="34" charset="-120"/>
              </a:rPr>
              <a:t>Target Level — Bronze | Silver | Gold
</a:t>
            </a:r>
            <a:pPr indent="0" marL="0">
              <a:buNone/>
            </a:pPr>
            <a:r>
              <a:rPr lang="en-US" sz="1200" dirty="0">
                <a:solidFill>
                  <a:srgbClr val="5C6378"/>
                </a:solidFill>
                <a:latin typeface="Georgia" pitchFamily="34" charset="0"/>
                <a:ea typeface="Georgia" pitchFamily="34" charset="-122"/>
                <a:cs typeface="Georgia" pitchFamily="34" charset="-120"/>
              </a:rPr>
              <a:t>Notes — free-text context</a:t>
            </a:r>
            <a:endParaRPr lang="en-US" sz="1200" dirty="0"/>
          </a:p>
        </p:txBody>
      </p:sp>
      <p:sp>
        <p:nvSpPr>
          <p:cNvPr id="6" name="Shape 4"/>
          <p:cNvSpPr/>
          <p:nvPr/>
        </p:nvSpPr>
        <p:spPr>
          <a:xfrm>
            <a:off x="4572000" y="1463040"/>
            <a:ext cx="18288" cy="3108960"/>
          </a:xfrm>
          <a:prstGeom prst="rect">
            <a:avLst/>
          </a:prstGeom>
          <a:solidFill>
            <a:srgbClr val="E5E5E0"/>
          </a:solidFill>
          <a:ln w="12700">
            <a:solidFill>
              <a:srgbClr val="E5E5E0"/>
            </a:solidFill>
            <a:prstDash val="solid"/>
          </a:ln>
        </p:spPr>
      </p:sp>
      <p:sp>
        <p:nvSpPr>
          <p:cNvPr id="7" name="Text 5"/>
          <p:cNvSpPr/>
          <p:nvPr/>
        </p:nvSpPr>
        <p:spPr>
          <a:xfrm>
            <a:off x="4937760" y="1508760"/>
            <a:ext cx="4023360" cy="274320"/>
          </a:xfrm>
          <a:prstGeom prst="rect">
            <a:avLst/>
          </a:prstGeom>
          <a:noFill/>
          <a:ln/>
        </p:spPr>
        <p:txBody>
          <a:bodyPr wrap="square" lIns="0" tIns="0" rIns="0" bIns="0" rtlCol="0" anchor="ctr"/>
          <a:lstStyle/>
          <a:p>
            <a:pPr indent="0" marL="0">
              <a:buNone/>
            </a:pPr>
            <a:r>
              <a:rPr lang="en-US" sz="1000" b="1" spc="400" kern="0" dirty="0">
                <a:solidFill>
                  <a:srgbClr val="FF6B5C"/>
                </a:solidFill>
                <a:latin typeface="Helvetica Neue" pitchFamily="34" charset="0"/>
                <a:ea typeface="Helvetica Neue" pitchFamily="34" charset="-122"/>
                <a:cs typeface="Helvetica Neue" pitchFamily="34" charset="-120"/>
              </a:rPr>
              <a:t>WHAT HAPPENS</a:t>
            </a:r>
            <a:endParaRPr lang="en-US" sz="1000" dirty="0"/>
          </a:p>
        </p:txBody>
      </p:sp>
      <p:sp>
        <p:nvSpPr>
          <p:cNvPr id="8" name="Text 6"/>
          <p:cNvSpPr/>
          <p:nvPr/>
        </p:nvSpPr>
        <p:spPr>
          <a:xfrm>
            <a:off x="4937760" y="1920240"/>
            <a:ext cx="365760" cy="365760"/>
          </a:xfrm>
          <a:prstGeom prst="rect">
            <a:avLst/>
          </a:prstGeom>
          <a:noFill/>
          <a:ln/>
        </p:spPr>
        <p:txBody>
          <a:bodyPr wrap="square" lIns="0" tIns="0" rIns="0" bIns="0" rtlCol="0" anchor="ctr"/>
          <a:lstStyle/>
          <a:p>
            <a:pPr indent="0" marL="0">
              <a:buNone/>
            </a:pPr>
            <a:r>
              <a:rPr lang="en-US" sz="1300" b="1" dirty="0">
                <a:solidFill>
                  <a:srgbClr val="FF6B5C"/>
                </a:solidFill>
                <a:latin typeface="Georgia" pitchFamily="34" charset="0"/>
                <a:ea typeface="Georgia" pitchFamily="34" charset="-122"/>
                <a:cs typeface="Georgia" pitchFamily="34" charset="-120"/>
              </a:rPr>
              <a:t>1.</a:t>
            </a:r>
            <a:endParaRPr lang="en-US" sz="1300" dirty="0"/>
          </a:p>
        </p:txBody>
      </p:sp>
      <p:sp>
        <p:nvSpPr>
          <p:cNvPr id="9" name="Text 7"/>
          <p:cNvSpPr/>
          <p:nvPr/>
        </p:nvSpPr>
        <p:spPr>
          <a:xfrm>
            <a:off x="5303520" y="1920240"/>
            <a:ext cx="3657600" cy="36576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Entity updated: reviewRequested = true</a:t>
            </a:r>
            <a:endParaRPr lang="en-US" sz="1200" dirty="0"/>
          </a:p>
        </p:txBody>
      </p:sp>
      <p:sp>
        <p:nvSpPr>
          <p:cNvPr id="10" name="Text 8"/>
          <p:cNvSpPr/>
          <p:nvPr/>
        </p:nvSpPr>
        <p:spPr>
          <a:xfrm>
            <a:off x="4937760" y="2377440"/>
            <a:ext cx="365760" cy="365760"/>
          </a:xfrm>
          <a:prstGeom prst="rect">
            <a:avLst/>
          </a:prstGeom>
          <a:noFill/>
          <a:ln/>
        </p:spPr>
        <p:txBody>
          <a:bodyPr wrap="square" lIns="0" tIns="0" rIns="0" bIns="0" rtlCol="0" anchor="ctr"/>
          <a:lstStyle/>
          <a:p>
            <a:pPr indent="0" marL="0">
              <a:buNone/>
            </a:pPr>
            <a:r>
              <a:rPr lang="en-US" sz="1300" b="1" dirty="0">
                <a:solidFill>
                  <a:srgbClr val="FF6B5C"/>
                </a:solidFill>
                <a:latin typeface="Georgia" pitchFamily="34" charset="0"/>
                <a:ea typeface="Georgia" pitchFamily="34" charset="-122"/>
                <a:cs typeface="Georgia" pitchFamily="34" charset="-120"/>
              </a:rPr>
              <a:t>2.</a:t>
            </a:r>
            <a:endParaRPr lang="en-US" sz="1300" dirty="0"/>
          </a:p>
        </p:txBody>
      </p:sp>
      <p:sp>
        <p:nvSpPr>
          <p:cNvPr id="11" name="Text 9"/>
          <p:cNvSpPr/>
          <p:nvPr/>
        </p:nvSpPr>
        <p:spPr>
          <a:xfrm>
            <a:off x="5303520" y="2377440"/>
            <a:ext cx="3657600" cy="36576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targetLevel set from developer input</a:t>
            </a:r>
            <a:endParaRPr lang="en-US" sz="1200" dirty="0"/>
          </a:p>
        </p:txBody>
      </p:sp>
      <p:sp>
        <p:nvSpPr>
          <p:cNvPr id="12" name="Text 10"/>
          <p:cNvSpPr/>
          <p:nvPr/>
        </p:nvSpPr>
        <p:spPr>
          <a:xfrm>
            <a:off x="4937760" y="2834640"/>
            <a:ext cx="365760" cy="365760"/>
          </a:xfrm>
          <a:prstGeom prst="rect">
            <a:avLst/>
          </a:prstGeom>
          <a:noFill/>
          <a:ln/>
        </p:spPr>
        <p:txBody>
          <a:bodyPr wrap="square" lIns="0" tIns="0" rIns="0" bIns="0" rtlCol="0" anchor="ctr"/>
          <a:lstStyle/>
          <a:p>
            <a:pPr indent="0" marL="0">
              <a:buNone/>
            </a:pPr>
            <a:r>
              <a:rPr lang="en-US" sz="1300" b="1" dirty="0">
                <a:solidFill>
                  <a:srgbClr val="FF6B5C"/>
                </a:solidFill>
                <a:latin typeface="Georgia" pitchFamily="34" charset="0"/>
                <a:ea typeface="Georgia" pitchFamily="34" charset="-122"/>
                <a:cs typeface="Georgia" pitchFamily="34" charset="-120"/>
              </a:rPr>
              <a:t>3.</a:t>
            </a:r>
            <a:endParaRPr lang="en-US" sz="1300" dirty="0"/>
          </a:p>
        </p:txBody>
      </p:sp>
      <p:sp>
        <p:nvSpPr>
          <p:cNvPr id="13" name="Text 11"/>
          <p:cNvSpPr/>
          <p:nvPr/>
        </p:nvSpPr>
        <p:spPr>
          <a:xfrm>
            <a:off x="5303520" y="2834640"/>
            <a:ext cx="3657600" cy="36576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reviewNotes stored for platform team</a:t>
            </a:r>
            <a:endParaRPr lang="en-US" sz="1200" dirty="0"/>
          </a:p>
        </p:txBody>
      </p:sp>
      <p:sp>
        <p:nvSpPr>
          <p:cNvPr id="14" name="Text 12"/>
          <p:cNvSpPr/>
          <p:nvPr/>
        </p:nvSpPr>
        <p:spPr>
          <a:xfrm>
            <a:off x="4937760" y="3291840"/>
            <a:ext cx="365760" cy="365760"/>
          </a:xfrm>
          <a:prstGeom prst="rect">
            <a:avLst/>
          </a:prstGeom>
          <a:noFill/>
          <a:ln/>
        </p:spPr>
        <p:txBody>
          <a:bodyPr wrap="square" lIns="0" tIns="0" rIns="0" bIns="0" rtlCol="0" anchor="ctr"/>
          <a:lstStyle/>
          <a:p>
            <a:pPr indent="0" marL="0">
              <a:buNone/>
            </a:pPr>
            <a:r>
              <a:rPr lang="en-US" sz="1300" b="1" dirty="0">
                <a:solidFill>
                  <a:srgbClr val="FF6B5C"/>
                </a:solidFill>
                <a:latin typeface="Georgia" pitchFamily="34" charset="0"/>
                <a:ea typeface="Georgia" pitchFamily="34" charset="-122"/>
                <a:cs typeface="Georgia" pitchFamily="34" charset="-120"/>
              </a:rPr>
              <a:t>4.</a:t>
            </a:r>
            <a:endParaRPr lang="en-US" sz="1300" dirty="0"/>
          </a:p>
        </p:txBody>
      </p:sp>
      <p:sp>
        <p:nvSpPr>
          <p:cNvPr id="15" name="Text 13"/>
          <p:cNvSpPr/>
          <p:nvPr/>
        </p:nvSpPr>
        <p:spPr>
          <a:xfrm>
            <a:off x="5303520" y="3291840"/>
            <a:ext cx="3657600" cy="36576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Future: webhook → Slack + Jira ticket</a:t>
            </a:r>
            <a:endParaRPr lang="en-US" sz="1200" dirty="0"/>
          </a:p>
        </p:txBody>
      </p:sp>
      <p:sp>
        <p:nvSpPr>
          <p:cNvPr id="16" name="Text 1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238"/>
        </a:solidFill>
      </p:bgPr>
    </p:bg>
    <p:spTree>
      <p:nvGrpSpPr>
        <p:cNvPr id="1" name=""/>
        <p:cNvGrpSpPr/>
        <p:nvPr/>
      </p:nvGrpSpPr>
      <p:grpSpPr>
        <a:xfrm>
          <a:off x="0" y="0"/>
          <a:ext cx="0" cy="0"/>
          <a:chOff x="0" y="0"/>
          <a:chExt cx="0" cy="0"/>
        </a:xfrm>
      </p:grpSpPr>
      <p:sp>
        <p:nvSpPr>
          <p:cNvPr id="2" name="Text 0"/>
          <p:cNvSpPr/>
          <p:nvPr/>
        </p:nvSpPr>
        <p:spPr>
          <a:xfrm>
            <a:off x="548640" y="13716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Live Demo</a:t>
            </a:r>
            <a:endParaRPr lang="en-US" sz="4800" dirty="0"/>
          </a:p>
        </p:txBody>
      </p:sp>
      <p:sp>
        <p:nvSpPr>
          <p:cNvPr id="3" name="Shape 1"/>
          <p:cNvSpPr/>
          <p:nvPr/>
        </p:nvSpPr>
        <p:spPr>
          <a:xfrm>
            <a:off x="548640" y="2286000"/>
            <a:ext cx="548640" cy="36576"/>
          </a:xfrm>
          <a:prstGeom prst="rect">
            <a:avLst/>
          </a:prstGeom>
          <a:solidFill>
            <a:srgbClr val="FF6B5C"/>
          </a:solidFill>
          <a:ln w="12700">
            <a:solidFill>
              <a:srgbClr val="FF6B5C"/>
            </a:solidFill>
            <a:prstDash val="solid"/>
          </a:ln>
        </p:spPr>
      </p:sp>
      <p:sp>
        <p:nvSpPr>
          <p:cNvPr id="4" name="Text 2"/>
          <p:cNvSpPr/>
          <p:nvPr/>
        </p:nvSpPr>
        <p:spPr>
          <a:xfrm>
            <a:off x="548640" y="2377440"/>
            <a:ext cx="8046720" cy="365760"/>
          </a:xfrm>
          <a:prstGeom prst="rect">
            <a:avLst/>
          </a:prstGeom>
          <a:noFill/>
          <a:ln/>
        </p:spPr>
        <p:txBody>
          <a:bodyPr wrap="square" lIns="0" tIns="0" rIns="0" bIns="0" rtlCol="0" anchor="ctr"/>
          <a:lstStyle/>
          <a:p>
            <a:pPr indent="0" marL="0">
              <a:buNone/>
            </a:pPr>
            <a:r>
              <a:rPr lang="en-US" sz="1600" i="1" dirty="0">
                <a:solidFill>
                  <a:srgbClr val="B6BAC8"/>
                </a:solidFill>
                <a:latin typeface="Georgia" pitchFamily="34" charset="0"/>
                <a:ea typeface="Georgia" pitchFamily="34" charset="-122"/>
                <a:cs typeface="Georgia" pitchFamily="34" charset="-120"/>
              </a:rPr>
              <a:t>Walking through Port</a:t>
            </a:r>
            <a:endParaRPr lang="en-US" sz="1600" dirty="0"/>
          </a:p>
        </p:txBody>
      </p:sp>
      <p:sp>
        <p:nvSpPr>
          <p:cNvPr id="5" name="Text 3"/>
          <p:cNvSpPr/>
          <p:nvPr/>
        </p:nvSpPr>
        <p:spPr>
          <a:xfrm>
            <a:off x="548640" y="3017520"/>
            <a:ext cx="457200" cy="320040"/>
          </a:xfrm>
          <a:prstGeom prst="rect">
            <a:avLst/>
          </a:prstGeom>
          <a:noFill/>
          <a:ln/>
        </p:spPr>
        <p:txBody>
          <a:bodyPr wrap="square" lIns="0" tIns="0" rIns="0" bIns="0" rtlCol="0" anchor="ctr"/>
          <a:lstStyle/>
          <a:p>
            <a:pPr indent="0" marL="0">
              <a:buNone/>
            </a:pPr>
            <a:r>
              <a:rPr lang="en-US" sz="1400" b="1" dirty="0">
                <a:solidFill>
                  <a:srgbClr val="FF6B5C"/>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005840" y="3017520"/>
            <a:ext cx="7315200" cy="320040"/>
          </a:xfrm>
          <a:prstGeom prst="rect">
            <a:avLst/>
          </a:prstGeom>
          <a:noFill/>
          <a:ln/>
        </p:spPr>
        <p:txBody>
          <a:bodyPr wrap="square" lIns="0" tIns="0" rIns="0" bIns="0" rtlCol="0" anchor="ctr"/>
          <a:lstStyle/>
          <a:p>
            <a:pPr indent="0" marL="0">
              <a:buNone/>
            </a:pPr>
            <a:r>
              <a:rPr lang="en-US" sz="1300" dirty="0">
                <a:solidFill>
                  <a:srgbClr val="FFFFFF"/>
                </a:solidFill>
                <a:latin typeface="Georgia" pitchFamily="34" charset="0"/>
                <a:ea typeface="Georgia" pitchFamily="34" charset="-122"/>
                <a:cs typeface="Georgia" pitchFamily="34" charset="-120"/>
              </a:rPr>
              <a:t>Catalog — 5 Walmart microservices from GitHub</a:t>
            </a:r>
            <a:endParaRPr lang="en-US" sz="1300" dirty="0"/>
          </a:p>
        </p:txBody>
      </p:sp>
      <p:sp>
        <p:nvSpPr>
          <p:cNvPr id="7" name="Text 5"/>
          <p:cNvSpPr/>
          <p:nvPr/>
        </p:nvSpPr>
        <p:spPr>
          <a:xfrm>
            <a:off x="548640" y="3364992"/>
            <a:ext cx="457200" cy="320040"/>
          </a:xfrm>
          <a:prstGeom prst="rect">
            <a:avLst/>
          </a:prstGeom>
          <a:noFill/>
          <a:ln/>
        </p:spPr>
        <p:txBody>
          <a:bodyPr wrap="square" lIns="0" tIns="0" rIns="0" bIns="0" rtlCol="0" anchor="ctr"/>
          <a:lstStyle/>
          <a:p>
            <a:pPr indent="0" marL="0">
              <a:buNone/>
            </a:pPr>
            <a:r>
              <a:rPr lang="en-US" sz="1400" b="1" dirty="0">
                <a:solidFill>
                  <a:srgbClr val="FF6B5C"/>
                </a:solidFill>
                <a:latin typeface="Georgia" pitchFamily="34" charset="0"/>
                <a:ea typeface="Georgia" pitchFamily="34" charset="-122"/>
                <a:cs typeface="Georgia" pitchFamily="34" charset="-120"/>
              </a:rPr>
              <a:t>2.</a:t>
            </a:r>
            <a:endParaRPr lang="en-US" sz="1400" dirty="0"/>
          </a:p>
        </p:txBody>
      </p:sp>
      <p:sp>
        <p:nvSpPr>
          <p:cNvPr id="8" name="Text 6"/>
          <p:cNvSpPr/>
          <p:nvPr/>
        </p:nvSpPr>
        <p:spPr>
          <a:xfrm>
            <a:off x="1005840" y="3364992"/>
            <a:ext cx="7315200" cy="320040"/>
          </a:xfrm>
          <a:prstGeom prst="rect">
            <a:avLst/>
          </a:prstGeom>
          <a:noFill/>
          <a:ln/>
        </p:spPr>
        <p:txBody>
          <a:bodyPr wrap="square" lIns="0" tIns="0" rIns="0" bIns="0" rtlCol="0" anchor="ctr"/>
          <a:lstStyle/>
          <a:p>
            <a:pPr indent="0" marL="0">
              <a:buNone/>
            </a:pPr>
            <a:r>
              <a:rPr lang="en-US" sz="1300" dirty="0">
                <a:solidFill>
                  <a:srgbClr val="FFFFFF"/>
                </a:solidFill>
                <a:latin typeface="Georgia" pitchFamily="34" charset="0"/>
                <a:ea typeface="Georgia" pitchFamily="34" charset="-122"/>
                <a:cs typeface="Georgia" pitchFamily="34" charset="-120"/>
              </a:rPr>
              <a:t>Deep dive — Gold vs. Basic side-by-side</a:t>
            </a:r>
            <a:endParaRPr lang="en-US" sz="1300" dirty="0"/>
          </a:p>
        </p:txBody>
      </p:sp>
      <p:sp>
        <p:nvSpPr>
          <p:cNvPr id="9" name="Text 7"/>
          <p:cNvSpPr/>
          <p:nvPr/>
        </p:nvSpPr>
        <p:spPr>
          <a:xfrm>
            <a:off x="548640" y="3712464"/>
            <a:ext cx="457200" cy="320040"/>
          </a:xfrm>
          <a:prstGeom prst="rect">
            <a:avLst/>
          </a:prstGeom>
          <a:noFill/>
          <a:ln/>
        </p:spPr>
        <p:txBody>
          <a:bodyPr wrap="square" lIns="0" tIns="0" rIns="0" bIns="0" rtlCol="0" anchor="ctr"/>
          <a:lstStyle/>
          <a:p>
            <a:pPr indent="0" marL="0">
              <a:buNone/>
            </a:pPr>
            <a:r>
              <a:rPr lang="en-US" sz="1400" b="1" dirty="0">
                <a:solidFill>
                  <a:srgbClr val="FF6B5C"/>
                </a:solidFill>
                <a:latin typeface="Georgia" pitchFamily="34" charset="0"/>
                <a:ea typeface="Georgia" pitchFamily="34" charset="-122"/>
                <a:cs typeface="Georgia" pitchFamily="34" charset="-120"/>
              </a:rPr>
              <a:t>3.</a:t>
            </a:r>
            <a:endParaRPr lang="en-US" sz="1400" dirty="0"/>
          </a:p>
        </p:txBody>
      </p:sp>
      <p:sp>
        <p:nvSpPr>
          <p:cNvPr id="10" name="Text 8"/>
          <p:cNvSpPr/>
          <p:nvPr/>
        </p:nvSpPr>
        <p:spPr>
          <a:xfrm>
            <a:off x="1005840" y="3712464"/>
            <a:ext cx="7315200" cy="320040"/>
          </a:xfrm>
          <a:prstGeom prst="rect">
            <a:avLst/>
          </a:prstGeom>
          <a:noFill/>
          <a:ln/>
        </p:spPr>
        <p:txBody>
          <a:bodyPr wrap="square" lIns="0" tIns="0" rIns="0" bIns="0" rtlCol="0" anchor="ctr"/>
          <a:lstStyle/>
          <a:p>
            <a:pPr indent="0" marL="0">
              <a:buNone/>
            </a:pPr>
            <a:r>
              <a:rPr lang="en-US" sz="1300" dirty="0">
                <a:solidFill>
                  <a:srgbClr val="FFFFFF"/>
                </a:solidFill>
                <a:latin typeface="Georgia" pitchFamily="34" charset="0"/>
                <a:ea typeface="Georgia" pitchFamily="34" charset="-122"/>
                <a:cs typeface="Georgia" pitchFamily="34" charset="-120"/>
              </a:rPr>
              <a:t>Scorecard — rules evaluating live</a:t>
            </a:r>
            <a:endParaRPr lang="en-US" sz="1300" dirty="0"/>
          </a:p>
        </p:txBody>
      </p:sp>
      <p:sp>
        <p:nvSpPr>
          <p:cNvPr id="11" name="Text 9"/>
          <p:cNvSpPr/>
          <p:nvPr/>
        </p:nvSpPr>
        <p:spPr>
          <a:xfrm>
            <a:off x="548640" y="4059936"/>
            <a:ext cx="457200" cy="320040"/>
          </a:xfrm>
          <a:prstGeom prst="rect">
            <a:avLst/>
          </a:prstGeom>
          <a:noFill/>
          <a:ln/>
        </p:spPr>
        <p:txBody>
          <a:bodyPr wrap="square" lIns="0" tIns="0" rIns="0" bIns="0" rtlCol="0" anchor="ctr"/>
          <a:lstStyle/>
          <a:p>
            <a:pPr indent="0" marL="0">
              <a:buNone/>
            </a:pPr>
            <a:r>
              <a:rPr lang="en-US" sz="1400" b="1" dirty="0">
                <a:solidFill>
                  <a:srgbClr val="FF6B5C"/>
                </a:solidFill>
                <a:latin typeface="Georgia" pitchFamily="34" charset="0"/>
                <a:ea typeface="Georgia" pitchFamily="34" charset="-122"/>
                <a:cs typeface="Georgia" pitchFamily="34" charset="-120"/>
              </a:rPr>
              <a:t>4.</a:t>
            </a:r>
            <a:endParaRPr lang="en-US" sz="1400" dirty="0"/>
          </a:p>
        </p:txBody>
      </p:sp>
      <p:sp>
        <p:nvSpPr>
          <p:cNvPr id="12" name="Text 10"/>
          <p:cNvSpPr/>
          <p:nvPr/>
        </p:nvSpPr>
        <p:spPr>
          <a:xfrm>
            <a:off x="1005840" y="4059936"/>
            <a:ext cx="7315200" cy="320040"/>
          </a:xfrm>
          <a:prstGeom prst="rect">
            <a:avLst/>
          </a:prstGeom>
          <a:noFill/>
          <a:ln/>
        </p:spPr>
        <p:txBody>
          <a:bodyPr wrap="square" lIns="0" tIns="0" rIns="0" bIns="0" rtlCol="0" anchor="ctr"/>
          <a:lstStyle/>
          <a:p>
            <a:pPr indent="0" marL="0">
              <a:buNone/>
            </a:pPr>
            <a:r>
              <a:rPr lang="en-US" sz="1300" dirty="0">
                <a:solidFill>
                  <a:srgbClr val="FFFFFF"/>
                </a:solidFill>
                <a:latin typeface="Georgia" pitchFamily="34" charset="0"/>
                <a:ea typeface="Georgia" pitchFamily="34" charset="-122"/>
                <a:cs typeface="Georgia" pitchFamily="34" charset="-120"/>
              </a:rPr>
              <a:t>Self-service — trigger review action</a:t>
            </a:r>
            <a:endParaRPr lang="en-US" sz="1300" dirty="0"/>
          </a:p>
        </p:txBody>
      </p:sp>
      <p:sp>
        <p:nvSpPr>
          <p:cNvPr id="13" name="Text 11"/>
          <p:cNvSpPr/>
          <p:nvPr/>
        </p:nvSpPr>
        <p:spPr>
          <a:xfrm>
            <a:off x="548640" y="4407408"/>
            <a:ext cx="457200" cy="320040"/>
          </a:xfrm>
          <a:prstGeom prst="rect">
            <a:avLst/>
          </a:prstGeom>
          <a:noFill/>
          <a:ln/>
        </p:spPr>
        <p:txBody>
          <a:bodyPr wrap="square" lIns="0" tIns="0" rIns="0" bIns="0" rtlCol="0" anchor="ctr"/>
          <a:lstStyle/>
          <a:p>
            <a:pPr indent="0" marL="0">
              <a:buNone/>
            </a:pPr>
            <a:r>
              <a:rPr lang="en-US" sz="1400" b="1" dirty="0">
                <a:solidFill>
                  <a:srgbClr val="FF6B5C"/>
                </a:solidFill>
                <a:latin typeface="Georgia" pitchFamily="34" charset="0"/>
                <a:ea typeface="Georgia" pitchFamily="34" charset="-122"/>
                <a:cs typeface="Georgia" pitchFamily="34" charset="-120"/>
              </a:rPr>
              <a:t>5.</a:t>
            </a:r>
            <a:endParaRPr lang="en-US" sz="1400" dirty="0"/>
          </a:p>
        </p:txBody>
      </p:sp>
      <p:sp>
        <p:nvSpPr>
          <p:cNvPr id="14" name="Text 12"/>
          <p:cNvSpPr/>
          <p:nvPr/>
        </p:nvSpPr>
        <p:spPr>
          <a:xfrm>
            <a:off x="1005840" y="4407408"/>
            <a:ext cx="7315200" cy="320040"/>
          </a:xfrm>
          <a:prstGeom prst="rect">
            <a:avLst/>
          </a:prstGeom>
          <a:noFill/>
          <a:ln/>
        </p:spPr>
        <p:txBody>
          <a:bodyPr wrap="square" lIns="0" tIns="0" rIns="0" bIns="0" rtlCol="0" anchor="ctr"/>
          <a:lstStyle/>
          <a:p>
            <a:pPr indent="0" marL="0">
              <a:buNone/>
            </a:pPr>
            <a:r>
              <a:rPr lang="en-US" sz="1300" dirty="0">
                <a:solidFill>
                  <a:srgbClr val="FFFFFF"/>
                </a:solidFill>
                <a:latin typeface="Georgia" pitchFamily="34" charset="0"/>
                <a:ea typeface="Georgia" pitchFamily="34" charset="-122"/>
                <a:cs typeface="Georgia" pitchFamily="34" charset="-120"/>
              </a:rPr>
              <a:t>Dashboard — org-wide posture</a:t>
            </a:r>
            <a:endParaRPr lang="en-US" sz="1300" dirty="0"/>
          </a:p>
        </p:txBody>
      </p:sp>
      <p:sp>
        <p:nvSpPr>
          <p:cNvPr id="15" name="Text 13"/>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Expected Outcomes in 6 Months</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Text 2"/>
          <p:cNvSpPr/>
          <p:nvPr/>
        </p:nvSpPr>
        <p:spPr>
          <a:xfrm>
            <a:off x="548640" y="1554480"/>
            <a:ext cx="3200400" cy="320040"/>
          </a:xfrm>
          <a:prstGeom prst="rect">
            <a:avLst/>
          </a:prstGeom>
          <a:noFill/>
          <a:ln/>
        </p:spPr>
        <p:txBody>
          <a:bodyPr wrap="square" lIns="0" tIns="0" rIns="0" bIns="0" rtlCol="0" anchor="ctr"/>
          <a:lstStyle/>
          <a:p>
            <a:pPr indent="0" marL="0">
              <a:buNone/>
            </a:pPr>
            <a:r>
              <a:rPr lang="en-US" sz="1000" b="1" spc="300" kern="0" dirty="0">
                <a:solidFill>
                  <a:srgbClr val="1A2238"/>
                </a:solidFill>
                <a:latin typeface="Helvetica Neue" pitchFamily="34" charset="0"/>
                <a:ea typeface="Helvetica Neue" pitchFamily="34" charset="-122"/>
                <a:cs typeface="Helvetica Neue" pitchFamily="34" charset="-120"/>
              </a:rPr>
              <a:t>METRIC</a:t>
            </a:r>
            <a:endParaRPr lang="en-US" sz="1000" dirty="0"/>
          </a:p>
        </p:txBody>
      </p:sp>
      <p:sp>
        <p:nvSpPr>
          <p:cNvPr id="5" name="Text 3"/>
          <p:cNvSpPr/>
          <p:nvPr/>
        </p:nvSpPr>
        <p:spPr>
          <a:xfrm>
            <a:off x="3840480" y="1554480"/>
            <a:ext cx="2286000" cy="320040"/>
          </a:xfrm>
          <a:prstGeom prst="rect">
            <a:avLst/>
          </a:prstGeom>
          <a:noFill/>
          <a:ln/>
        </p:spPr>
        <p:txBody>
          <a:bodyPr wrap="square" lIns="0" tIns="0" rIns="0" bIns="0" rtlCol="0" anchor="ctr"/>
          <a:lstStyle/>
          <a:p>
            <a:pPr indent="0" marL="0">
              <a:buNone/>
            </a:pPr>
            <a:r>
              <a:rPr lang="en-US" sz="1000" b="1" spc="300" kern="0" dirty="0">
                <a:solidFill>
                  <a:srgbClr val="5C6378"/>
                </a:solidFill>
                <a:latin typeface="Helvetica Neue" pitchFamily="34" charset="0"/>
                <a:ea typeface="Helvetica Neue" pitchFamily="34" charset="-122"/>
                <a:cs typeface="Helvetica Neue" pitchFamily="34" charset="-120"/>
              </a:rPr>
              <a:t>BEFORE</a:t>
            </a:r>
            <a:endParaRPr lang="en-US" sz="1000" dirty="0"/>
          </a:p>
        </p:txBody>
      </p:sp>
      <p:sp>
        <p:nvSpPr>
          <p:cNvPr id="6" name="Text 4"/>
          <p:cNvSpPr/>
          <p:nvPr/>
        </p:nvSpPr>
        <p:spPr>
          <a:xfrm>
            <a:off x="6263640" y="1554480"/>
            <a:ext cx="2286000" cy="320040"/>
          </a:xfrm>
          <a:prstGeom prst="rect">
            <a:avLst/>
          </a:prstGeom>
          <a:noFill/>
          <a:ln/>
        </p:spPr>
        <p:txBody>
          <a:bodyPr wrap="square" lIns="0" tIns="0" rIns="0" bIns="0" rtlCol="0" anchor="ctr"/>
          <a:lstStyle/>
          <a:p>
            <a:pPr indent="0" marL="0">
              <a:buNone/>
            </a:pPr>
            <a:r>
              <a:rPr lang="en-US" sz="1000" b="1" spc="300" kern="0" dirty="0">
                <a:solidFill>
                  <a:srgbClr val="FF6B5C"/>
                </a:solidFill>
                <a:latin typeface="Helvetica Neue" pitchFamily="34" charset="0"/>
                <a:ea typeface="Helvetica Neue" pitchFamily="34" charset="-122"/>
                <a:cs typeface="Helvetica Neue" pitchFamily="34" charset="-120"/>
              </a:rPr>
              <a:t>AFTER</a:t>
            </a:r>
            <a:endParaRPr lang="en-US" sz="1000" dirty="0"/>
          </a:p>
        </p:txBody>
      </p:sp>
      <p:sp>
        <p:nvSpPr>
          <p:cNvPr id="7" name="Shape 5"/>
          <p:cNvSpPr/>
          <p:nvPr/>
        </p:nvSpPr>
        <p:spPr>
          <a:xfrm>
            <a:off x="457200" y="1874520"/>
            <a:ext cx="8229600" cy="18288"/>
          </a:xfrm>
          <a:prstGeom prst="rect">
            <a:avLst/>
          </a:prstGeom>
          <a:solidFill>
            <a:srgbClr val="1A2238"/>
          </a:solidFill>
          <a:ln w="12700">
            <a:solidFill>
              <a:srgbClr val="1A2238"/>
            </a:solidFill>
            <a:prstDash val="solid"/>
          </a:ln>
        </p:spPr>
      </p:sp>
      <p:sp>
        <p:nvSpPr>
          <p:cNvPr id="8" name="Text 6"/>
          <p:cNvSpPr/>
          <p:nvPr/>
        </p:nvSpPr>
        <p:spPr>
          <a:xfrm>
            <a:off x="548640" y="2011680"/>
            <a:ext cx="3200400" cy="41148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Production readiness compliance</a:t>
            </a:r>
            <a:endParaRPr lang="en-US" sz="1200" dirty="0"/>
          </a:p>
        </p:txBody>
      </p:sp>
      <p:sp>
        <p:nvSpPr>
          <p:cNvPr id="9" name="Text 7"/>
          <p:cNvSpPr/>
          <p:nvPr/>
        </p:nvSpPr>
        <p:spPr>
          <a:xfrm>
            <a:off x="3840480" y="2011680"/>
            <a:ext cx="228600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~35%</a:t>
            </a:r>
            <a:endParaRPr lang="en-US" sz="1100" dirty="0"/>
          </a:p>
        </p:txBody>
      </p:sp>
      <p:sp>
        <p:nvSpPr>
          <p:cNvPr id="10" name="Text 8"/>
          <p:cNvSpPr/>
          <p:nvPr/>
        </p:nvSpPr>
        <p:spPr>
          <a:xfrm>
            <a:off x="6263640" y="2011680"/>
            <a:ext cx="2286000" cy="411480"/>
          </a:xfrm>
          <a:prstGeom prst="rect">
            <a:avLst/>
          </a:prstGeom>
          <a:noFill/>
          <a:ln/>
        </p:spPr>
        <p:txBody>
          <a:bodyPr wrap="square" lIns="0" tIns="0" rIns="0" bIns="0" rtlCol="0" anchor="ctr"/>
          <a:lstStyle/>
          <a:p>
            <a:pPr indent="0" marL="0">
              <a:buNone/>
            </a:pPr>
            <a:r>
              <a:rPr lang="en-US" sz="1200" b="1" dirty="0">
                <a:solidFill>
                  <a:srgbClr val="FF6B5C"/>
                </a:solidFill>
                <a:latin typeface="Helvetica Neue" pitchFamily="34" charset="0"/>
                <a:ea typeface="Helvetica Neue" pitchFamily="34" charset="-122"/>
                <a:cs typeface="Helvetica Neue" pitchFamily="34" charset="-120"/>
              </a:rPr>
              <a:t>80%+</a:t>
            </a:r>
            <a:endParaRPr lang="en-US" sz="1200" dirty="0"/>
          </a:p>
        </p:txBody>
      </p:sp>
      <p:sp>
        <p:nvSpPr>
          <p:cNvPr id="11" name="Shape 9"/>
          <p:cNvSpPr/>
          <p:nvPr/>
        </p:nvSpPr>
        <p:spPr>
          <a:xfrm>
            <a:off x="457200" y="2450592"/>
            <a:ext cx="8229600" cy="9144"/>
          </a:xfrm>
          <a:prstGeom prst="rect">
            <a:avLst/>
          </a:prstGeom>
          <a:solidFill>
            <a:srgbClr val="E5E5E0"/>
          </a:solidFill>
          <a:ln w="12700">
            <a:solidFill>
              <a:srgbClr val="E5E5E0"/>
            </a:solidFill>
            <a:prstDash val="solid"/>
          </a:ln>
        </p:spPr>
      </p:sp>
      <p:sp>
        <p:nvSpPr>
          <p:cNvPr id="12" name="Text 10"/>
          <p:cNvSpPr/>
          <p:nvPr/>
        </p:nvSpPr>
        <p:spPr>
          <a:xfrm>
            <a:off x="548640" y="2468880"/>
            <a:ext cx="3200400" cy="41148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Manual review time per service</a:t>
            </a:r>
            <a:endParaRPr lang="en-US" sz="1200" dirty="0"/>
          </a:p>
        </p:txBody>
      </p:sp>
      <p:sp>
        <p:nvSpPr>
          <p:cNvPr id="13" name="Text 11"/>
          <p:cNvSpPr/>
          <p:nvPr/>
        </p:nvSpPr>
        <p:spPr>
          <a:xfrm>
            <a:off x="3840480" y="2468880"/>
            <a:ext cx="228600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2–4 hours</a:t>
            </a:r>
            <a:endParaRPr lang="en-US" sz="1100" dirty="0"/>
          </a:p>
        </p:txBody>
      </p:sp>
      <p:sp>
        <p:nvSpPr>
          <p:cNvPr id="14" name="Text 12"/>
          <p:cNvSpPr/>
          <p:nvPr/>
        </p:nvSpPr>
        <p:spPr>
          <a:xfrm>
            <a:off x="6263640" y="2468880"/>
            <a:ext cx="2286000" cy="411480"/>
          </a:xfrm>
          <a:prstGeom prst="rect">
            <a:avLst/>
          </a:prstGeom>
          <a:noFill/>
          <a:ln/>
        </p:spPr>
        <p:txBody>
          <a:bodyPr wrap="square" lIns="0" tIns="0" rIns="0" bIns="0" rtlCol="0" anchor="ctr"/>
          <a:lstStyle/>
          <a:p>
            <a:pPr indent="0" marL="0">
              <a:buNone/>
            </a:pPr>
            <a:r>
              <a:rPr lang="en-US" sz="1200" b="1" dirty="0">
                <a:solidFill>
                  <a:srgbClr val="FF6B5C"/>
                </a:solidFill>
                <a:latin typeface="Helvetica Neue" pitchFamily="34" charset="0"/>
                <a:ea typeface="Helvetica Neue" pitchFamily="34" charset="-122"/>
                <a:cs typeface="Helvetica Neue" pitchFamily="34" charset="-120"/>
              </a:rPr>
              <a:t>15 min</a:t>
            </a:r>
            <a:endParaRPr lang="en-US" sz="1200" dirty="0"/>
          </a:p>
        </p:txBody>
      </p:sp>
      <p:sp>
        <p:nvSpPr>
          <p:cNvPr id="15" name="Shape 13"/>
          <p:cNvSpPr/>
          <p:nvPr/>
        </p:nvSpPr>
        <p:spPr>
          <a:xfrm>
            <a:off x="457200" y="2907792"/>
            <a:ext cx="8229600" cy="9144"/>
          </a:xfrm>
          <a:prstGeom prst="rect">
            <a:avLst/>
          </a:prstGeom>
          <a:solidFill>
            <a:srgbClr val="E5E5E0"/>
          </a:solidFill>
          <a:ln w="12700">
            <a:solidFill>
              <a:srgbClr val="E5E5E0"/>
            </a:solidFill>
            <a:prstDash val="solid"/>
          </a:ln>
        </p:spPr>
      </p:sp>
      <p:sp>
        <p:nvSpPr>
          <p:cNvPr id="16" name="Text 14"/>
          <p:cNvSpPr/>
          <p:nvPr/>
        </p:nvSpPr>
        <p:spPr>
          <a:xfrm>
            <a:off x="548640" y="2926080"/>
            <a:ext cx="3200400" cy="41148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Platform team review capacity</a:t>
            </a:r>
            <a:endParaRPr lang="en-US" sz="1200" dirty="0"/>
          </a:p>
        </p:txBody>
      </p:sp>
      <p:sp>
        <p:nvSpPr>
          <p:cNvPr id="17" name="Text 15"/>
          <p:cNvSpPr/>
          <p:nvPr/>
        </p:nvSpPr>
        <p:spPr>
          <a:xfrm>
            <a:off x="3840480" y="2926080"/>
            <a:ext cx="228600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40%</a:t>
            </a:r>
            <a:endParaRPr lang="en-US" sz="1100" dirty="0"/>
          </a:p>
        </p:txBody>
      </p:sp>
      <p:sp>
        <p:nvSpPr>
          <p:cNvPr id="18" name="Text 16"/>
          <p:cNvSpPr/>
          <p:nvPr/>
        </p:nvSpPr>
        <p:spPr>
          <a:xfrm>
            <a:off x="6263640" y="2926080"/>
            <a:ext cx="2286000" cy="411480"/>
          </a:xfrm>
          <a:prstGeom prst="rect">
            <a:avLst/>
          </a:prstGeom>
          <a:noFill/>
          <a:ln/>
        </p:spPr>
        <p:txBody>
          <a:bodyPr wrap="square" lIns="0" tIns="0" rIns="0" bIns="0" rtlCol="0" anchor="ctr"/>
          <a:lstStyle/>
          <a:p>
            <a:pPr indent="0" marL="0">
              <a:buNone/>
            </a:pPr>
            <a:r>
              <a:rPr lang="en-US" sz="1200" b="1" dirty="0">
                <a:solidFill>
                  <a:srgbClr val="FF6B5C"/>
                </a:solidFill>
                <a:latin typeface="Helvetica Neue" pitchFamily="34" charset="0"/>
                <a:ea typeface="Helvetica Neue" pitchFamily="34" charset="-122"/>
                <a:cs typeface="Helvetica Neue" pitchFamily="34" charset="-120"/>
              </a:rPr>
              <a:t>&lt;10%</a:t>
            </a:r>
            <a:endParaRPr lang="en-US" sz="1200" dirty="0"/>
          </a:p>
        </p:txBody>
      </p:sp>
      <p:sp>
        <p:nvSpPr>
          <p:cNvPr id="19" name="Shape 17"/>
          <p:cNvSpPr/>
          <p:nvPr/>
        </p:nvSpPr>
        <p:spPr>
          <a:xfrm>
            <a:off x="457200" y="3364992"/>
            <a:ext cx="8229600" cy="9144"/>
          </a:xfrm>
          <a:prstGeom prst="rect">
            <a:avLst/>
          </a:prstGeom>
          <a:solidFill>
            <a:srgbClr val="E5E5E0"/>
          </a:solidFill>
          <a:ln w="12700">
            <a:solidFill>
              <a:srgbClr val="E5E5E0"/>
            </a:solidFill>
            <a:prstDash val="solid"/>
          </a:ln>
        </p:spPr>
      </p:sp>
      <p:sp>
        <p:nvSpPr>
          <p:cNvPr id="20" name="Text 18"/>
          <p:cNvSpPr/>
          <p:nvPr/>
        </p:nvSpPr>
        <p:spPr>
          <a:xfrm>
            <a:off x="548640" y="3383280"/>
            <a:ext cx="3200400" cy="41148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Incidents from readiness gaps</a:t>
            </a:r>
            <a:endParaRPr lang="en-US" sz="1200" dirty="0"/>
          </a:p>
        </p:txBody>
      </p:sp>
      <p:sp>
        <p:nvSpPr>
          <p:cNvPr id="21" name="Text 19"/>
          <p:cNvSpPr/>
          <p:nvPr/>
        </p:nvSpPr>
        <p:spPr>
          <a:xfrm>
            <a:off x="3840480" y="3383280"/>
            <a:ext cx="228600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Baseline</a:t>
            </a:r>
            <a:endParaRPr lang="en-US" sz="1100" dirty="0"/>
          </a:p>
        </p:txBody>
      </p:sp>
      <p:sp>
        <p:nvSpPr>
          <p:cNvPr id="22" name="Text 20"/>
          <p:cNvSpPr/>
          <p:nvPr/>
        </p:nvSpPr>
        <p:spPr>
          <a:xfrm>
            <a:off x="6263640" y="3383280"/>
            <a:ext cx="2286000" cy="411480"/>
          </a:xfrm>
          <a:prstGeom prst="rect">
            <a:avLst/>
          </a:prstGeom>
          <a:noFill/>
          <a:ln/>
        </p:spPr>
        <p:txBody>
          <a:bodyPr wrap="square" lIns="0" tIns="0" rIns="0" bIns="0" rtlCol="0" anchor="ctr"/>
          <a:lstStyle/>
          <a:p>
            <a:pPr indent="0" marL="0">
              <a:buNone/>
            </a:pPr>
            <a:r>
              <a:rPr lang="en-US" sz="1200" b="1" dirty="0">
                <a:solidFill>
                  <a:srgbClr val="FF6B5C"/>
                </a:solidFill>
                <a:latin typeface="Helvetica Neue" pitchFamily="34" charset="0"/>
                <a:ea typeface="Helvetica Neue" pitchFamily="34" charset="-122"/>
                <a:cs typeface="Helvetica Neue" pitchFamily="34" charset="-120"/>
              </a:rPr>
              <a:t>50% fewer</a:t>
            </a:r>
            <a:endParaRPr lang="en-US" sz="1200" dirty="0"/>
          </a:p>
        </p:txBody>
      </p:sp>
      <p:sp>
        <p:nvSpPr>
          <p:cNvPr id="23" name="Shape 21"/>
          <p:cNvSpPr/>
          <p:nvPr/>
        </p:nvSpPr>
        <p:spPr>
          <a:xfrm>
            <a:off x="457200" y="3822192"/>
            <a:ext cx="8229600" cy="9144"/>
          </a:xfrm>
          <a:prstGeom prst="rect">
            <a:avLst/>
          </a:prstGeom>
          <a:solidFill>
            <a:srgbClr val="E5E5E0"/>
          </a:solidFill>
          <a:ln w="12700">
            <a:solidFill>
              <a:srgbClr val="E5E5E0"/>
            </a:solidFill>
            <a:prstDash val="solid"/>
          </a:ln>
        </p:spPr>
      </p:sp>
      <p:sp>
        <p:nvSpPr>
          <p:cNvPr id="24" name="Text 22"/>
          <p:cNvSpPr/>
          <p:nvPr/>
        </p:nvSpPr>
        <p:spPr>
          <a:xfrm>
            <a:off x="548640" y="3840480"/>
            <a:ext cx="3200400" cy="411480"/>
          </a:xfrm>
          <a:prstGeom prst="rect">
            <a:avLst/>
          </a:prstGeom>
          <a:noFill/>
          <a:ln/>
        </p:spPr>
        <p:txBody>
          <a:bodyPr wrap="square" lIns="0" tIns="0" rIns="0" bIns="0" rtlCol="0" anchor="ctr"/>
          <a:lstStyle/>
          <a:p>
            <a:pPr indent="0" marL="0">
              <a:buNone/>
            </a:pPr>
            <a:r>
              <a:rPr lang="en-US" sz="1200" dirty="0">
                <a:solidFill>
                  <a:srgbClr val="1A2238"/>
                </a:solidFill>
                <a:latin typeface="Georgia" pitchFamily="34" charset="0"/>
                <a:ea typeface="Georgia" pitchFamily="34" charset="-122"/>
                <a:cs typeface="Georgia" pitchFamily="34" charset="-120"/>
              </a:rPr>
              <a:t>Developer time-to-deploy</a:t>
            </a:r>
            <a:endParaRPr lang="en-US" sz="1200" dirty="0"/>
          </a:p>
        </p:txBody>
      </p:sp>
      <p:sp>
        <p:nvSpPr>
          <p:cNvPr id="25" name="Text 23"/>
          <p:cNvSpPr/>
          <p:nvPr/>
        </p:nvSpPr>
        <p:spPr>
          <a:xfrm>
            <a:off x="3840480" y="3840480"/>
            <a:ext cx="228600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Days</a:t>
            </a:r>
            <a:endParaRPr lang="en-US" sz="1100" dirty="0"/>
          </a:p>
        </p:txBody>
      </p:sp>
      <p:sp>
        <p:nvSpPr>
          <p:cNvPr id="26" name="Text 24"/>
          <p:cNvSpPr/>
          <p:nvPr/>
        </p:nvSpPr>
        <p:spPr>
          <a:xfrm>
            <a:off x="6263640" y="3840480"/>
            <a:ext cx="2286000" cy="411480"/>
          </a:xfrm>
          <a:prstGeom prst="rect">
            <a:avLst/>
          </a:prstGeom>
          <a:noFill/>
          <a:ln/>
        </p:spPr>
        <p:txBody>
          <a:bodyPr wrap="square" lIns="0" tIns="0" rIns="0" bIns="0" rtlCol="0" anchor="ctr"/>
          <a:lstStyle/>
          <a:p>
            <a:pPr indent="0" marL="0">
              <a:buNone/>
            </a:pPr>
            <a:r>
              <a:rPr lang="en-US" sz="1200" b="1" dirty="0">
                <a:solidFill>
                  <a:srgbClr val="FF6B5C"/>
                </a:solidFill>
                <a:latin typeface="Helvetica Neue" pitchFamily="34" charset="0"/>
                <a:ea typeface="Helvetica Neue" pitchFamily="34" charset="-122"/>
                <a:cs typeface="Helvetica Neue" pitchFamily="34" charset="-120"/>
              </a:rPr>
              <a:t>Hours</a:t>
            </a:r>
            <a:endParaRPr lang="en-US" sz="1200" dirty="0"/>
          </a:p>
        </p:txBody>
      </p:sp>
      <p:sp>
        <p:nvSpPr>
          <p:cNvPr id="27" name="Text 25"/>
          <p:cNvSpPr/>
          <p:nvPr/>
        </p:nvSpPr>
        <p:spPr>
          <a:xfrm>
            <a:off x="457200" y="4572000"/>
            <a:ext cx="8229600" cy="274320"/>
          </a:xfrm>
          <a:prstGeom prst="rect">
            <a:avLst/>
          </a:prstGeom>
          <a:noFill/>
          <a:ln/>
        </p:spPr>
        <p:txBody>
          <a:bodyPr wrap="square" lIns="0" tIns="0" rIns="0" bIns="0" rtlCol="0" anchor="ctr"/>
          <a:lstStyle/>
          <a:p>
            <a:pPr algn="ctr" indent="0" marL="0">
              <a:buNone/>
            </a:pPr>
            <a:r>
              <a:rPr lang="en-US" sz="1200" i="1" dirty="0">
                <a:solidFill>
                  <a:srgbClr val="5C6378"/>
                </a:solidFill>
                <a:latin typeface="Georgia" pitchFamily="34" charset="0"/>
                <a:ea typeface="Georgia" pitchFamily="34" charset="-122"/>
                <a:cs typeface="Georgia" pitchFamily="34" charset="-120"/>
              </a:rPr>
              <a:t>Fewer incidents · faster deploys · reclaimed capacity.</a:t>
            </a:r>
            <a:endParaRPr lang="en-US" sz="1200" dirty="0"/>
          </a:p>
        </p:txBody>
      </p:sp>
      <p:sp>
        <p:nvSpPr>
          <p:cNvPr id="28" name="Text 26"/>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1A2238"/>
                </a:solidFill>
                <a:latin typeface="Georgia" pitchFamily="34" charset="0"/>
                <a:ea typeface="Georgia" pitchFamily="34" charset="-122"/>
                <a:cs typeface="Georgia" pitchFamily="34" charset="-120"/>
              </a:rPr>
              <a:t>What's Next</a:t>
            </a:r>
            <a:endParaRPr lang="en-US" sz="3200" dirty="0"/>
          </a:p>
        </p:txBody>
      </p:sp>
      <p:sp>
        <p:nvSpPr>
          <p:cNvPr id="3" name="Shape 1"/>
          <p:cNvSpPr/>
          <p:nvPr/>
        </p:nvSpPr>
        <p:spPr>
          <a:xfrm>
            <a:off x="548640" y="1097280"/>
            <a:ext cx="457200" cy="36576"/>
          </a:xfrm>
          <a:prstGeom prst="rect">
            <a:avLst/>
          </a:prstGeom>
          <a:solidFill>
            <a:srgbClr val="FF6B5C"/>
          </a:solidFill>
          <a:ln w="12700">
            <a:solidFill>
              <a:srgbClr val="FF6B5C"/>
            </a:solidFill>
            <a:prstDash val="solid"/>
          </a:ln>
        </p:spPr>
      </p:sp>
      <p:sp>
        <p:nvSpPr>
          <p:cNvPr id="4" name="Text 2"/>
          <p:cNvSpPr/>
          <p:nvPr/>
        </p:nvSpPr>
        <p:spPr>
          <a:xfrm>
            <a:off x="548640" y="1554480"/>
            <a:ext cx="3840480" cy="32004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Kubernetes</a:t>
            </a:r>
            <a:endParaRPr lang="en-US" sz="1400" dirty="0"/>
          </a:p>
        </p:txBody>
      </p:sp>
      <p:sp>
        <p:nvSpPr>
          <p:cNvPr id="5" name="Text 3"/>
          <p:cNvSpPr/>
          <p:nvPr/>
        </p:nvSpPr>
        <p:spPr>
          <a:xfrm>
            <a:off x="548640" y="1920240"/>
            <a:ext cx="384048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Map clusters, namespaces, deployments per hub</a:t>
            </a:r>
            <a:endParaRPr lang="en-US" sz="1100" dirty="0"/>
          </a:p>
        </p:txBody>
      </p:sp>
      <p:sp>
        <p:nvSpPr>
          <p:cNvPr id="6" name="Text 4"/>
          <p:cNvSpPr/>
          <p:nvPr/>
        </p:nvSpPr>
        <p:spPr>
          <a:xfrm>
            <a:off x="4754880" y="1554480"/>
            <a:ext cx="3840480" cy="32004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Snyk</a:t>
            </a:r>
            <a:endParaRPr lang="en-US" sz="1400" dirty="0"/>
          </a:p>
        </p:txBody>
      </p:sp>
      <p:sp>
        <p:nvSpPr>
          <p:cNvPr id="7" name="Text 5"/>
          <p:cNvSpPr/>
          <p:nvPr/>
        </p:nvSpPr>
        <p:spPr>
          <a:xfrm>
            <a:off x="4754880" y="1920240"/>
            <a:ext cx="384048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Real-time vulnerability scoring in the scorecard</a:t>
            </a:r>
            <a:endParaRPr lang="en-US" sz="1100" dirty="0"/>
          </a:p>
        </p:txBody>
      </p:sp>
      <p:sp>
        <p:nvSpPr>
          <p:cNvPr id="8" name="Text 6"/>
          <p:cNvSpPr/>
          <p:nvPr/>
        </p:nvSpPr>
        <p:spPr>
          <a:xfrm>
            <a:off x="548640" y="2560320"/>
            <a:ext cx="3840480" cy="32004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Datadog</a:t>
            </a:r>
            <a:endParaRPr lang="en-US" sz="1400" dirty="0"/>
          </a:p>
        </p:txBody>
      </p:sp>
      <p:sp>
        <p:nvSpPr>
          <p:cNvPr id="9" name="Text 7"/>
          <p:cNvSpPr/>
          <p:nvPr/>
        </p:nvSpPr>
        <p:spPr>
          <a:xfrm>
            <a:off x="548640" y="2926080"/>
            <a:ext cx="384048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Auto-validate monitoring and alerting coverage</a:t>
            </a:r>
            <a:endParaRPr lang="en-US" sz="1100" dirty="0"/>
          </a:p>
        </p:txBody>
      </p:sp>
      <p:sp>
        <p:nvSpPr>
          <p:cNvPr id="10" name="Text 8"/>
          <p:cNvSpPr/>
          <p:nvPr/>
        </p:nvSpPr>
        <p:spPr>
          <a:xfrm>
            <a:off x="4754880" y="2560320"/>
            <a:ext cx="3840480" cy="32004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CI/CD Gating</a:t>
            </a:r>
            <a:endParaRPr lang="en-US" sz="1400" dirty="0"/>
          </a:p>
        </p:txBody>
      </p:sp>
      <p:sp>
        <p:nvSpPr>
          <p:cNvPr id="11" name="Text 9"/>
          <p:cNvSpPr/>
          <p:nvPr/>
        </p:nvSpPr>
        <p:spPr>
          <a:xfrm>
            <a:off x="4754880" y="2926080"/>
            <a:ext cx="384048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Block deploys below Bronze in GitHub Actions</a:t>
            </a:r>
            <a:endParaRPr lang="en-US" sz="1100" dirty="0"/>
          </a:p>
        </p:txBody>
      </p:sp>
      <p:sp>
        <p:nvSpPr>
          <p:cNvPr id="12" name="Text 10"/>
          <p:cNvSpPr/>
          <p:nvPr/>
        </p:nvSpPr>
        <p:spPr>
          <a:xfrm>
            <a:off x="548640" y="3566160"/>
            <a:ext cx="3840480" cy="32004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More Scorecards</a:t>
            </a:r>
            <a:endParaRPr lang="en-US" sz="1400" dirty="0"/>
          </a:p>
        </p:txBody>
      </p:sp>
      <p:sp>
        <p:nvSpPr>
          <p:cNvPr id="13" name="Text 11"/>
          <p:cNvSpPr/>
          <p:nvPr/>
        </p:nvSpPr>
        <p:spPr>
          <a:xfrm>
            <a:off x="548640" y="3931920"/>
            <a:ext cx="384048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Security, cost, documentation — layered on top</a:t>
            </a:r>
            <a:endParaRPr lang="en-US" sz="1100" dirty="0"/>
          </a:p>
        </p:txBody>
      </p:sp>
      <p:sp>
        <p:nvSpPr>
          <p:cNvPr id="14" name="Text 12"/>
          <p:cNvSpPr/>
          <p:nvPr/>
        </p:nvSpPr>
        <p:spPr>
          <a:xfrm>
            <a:off x="4754880" y="3566160"/>
            <a:ext cx="3840480" cy="320040"/>
          </a:xfrm>
          <a:prstGeom prst="rect">
            <a:avLst/>
          </a:prstGeom>
          <a:noFill/>
          <a:ln/>
        </p:spPr>
        <p:txBody>
          <a:bodyPr wrap="square" lIns="0" tIns="0" rIns="0" bIns="0" rtlCol="0" anchor="ctr"/>
          <a:lstStyle/>
          <a:p>
            <a:pPr indent="0" marL="0">
              <a:buNone/>
            </a:pPr>
            <a:r>
              <a:rPr lang="en-US" sz="1400" b="1" dirty="0">
                <a:solidFill>
                  <a:srgbClr val="1A2238"/>
                </a:solidFill>
                <a:latin typeface="Georgia" pitchFamily="34" charset="0"/>
                <a:ea typeface="Georgia" pitchFamily="34" charset="-122"/>
                <a:cs typeface="Georgia" pitchFamily="34" charset="-120"/>
              </a:rPr>
              <a:t>10-Hub Rollout</a:t>
            </a:r>
            <a:endParaRPr lang="en-US" sz="1400" dirty="0"/>
          </a:p>
        </p:txBody>
      </p:sp>
      <p:sp>
        <p:nvSpPr>
          <p:cNvPr id="15" name="Text 13"/>
          <p:cNvSpPr/>
          <p:nvPr/>
        </p:nvSpPr>
        <p:spPr>
          <a:xfrm>
            <a:off x="4754880" y="3931920"/>
            <a:ext cx="3840480" cy="411480"/>
          </a:xfrm>
          <a:prstGeom prst="rect">
            <a:avLst/>
          </a:prstGeom>
          <a:noFill/>
          <a:ln/>
        </p:spPr>
        <p:txBody>
          <a:bodyPr wrap="square" lIns="0" tIns="0" rIns="0" bIns="0" rtlCol="0" anchor="ctr"/>
          <a:lstStyle/>
          <a:p>
            <a:pPr indent="0" marL="0">
              <a:buNone/>
            </a:pPr>
            <a:r>
              <a:rPr lang="en-US" sz="1100" dirty="0">
                <a:solidFill>
                  <a:srgbClr val="5C6378"/>
                </a:solidFill>
                <a:latin typeface="Helvetica Neue" pitchFamily="34" charset="0"/>
                <a:ea typeface="Helvetica Neue" pitchFamily="34" charset="-122"/>
                <a:cs typeface="Helvetica Neue" pitchFamily="34" charset="-120"/>
              </a:rPr>
              <a:t>Hub-specific dashboards for regional leadership</a:t>
            </a:r>
            <a:endParaRPr lang="en-US" sz="1100" dirty="0"/>
          </a:p>
        </p:txBody>
      </p:sp>
      <p:sp>
        <p:nvSpPr>
          <p:cNvPr id="16" name="Text 14"/>
          <p:cNvSpPr/>
          <p:nvPr/>
        </p:nvSpPr>
        <p:spPr>
          <a:xfrm>
            <a:off x="8229600" y="4846320"/>
            <a:ext cx="731520" cy="182880"/>
          </a:xfrm>
          <a:prstGeom prst="rect">
            <a:avLst/>
          </a:prstGeom>
          <a:noFill/>
          <a:ln/>
        </p:spPr>
        <p:txBody>
          <a:bodyPr wrap="square" lIns="0" tIns="0" rIns="0" bIns="0" rtlCol="0" anchor="ctr"/>
          <a:lstStyle/>
          <a:p>
            <a:pPr algn="r" indent="0" marL="0">
              <a:buNone/>
            </a:pPr>
            <a:r>
              <a:rPr lang="en-US" sz="900" dirty="0">
                <a:solidFill>
                  <a:srgbClr val="B6BAC8"/>
                </a:solidFill>
                <a:latin typeface="Helvetica Neue" pitchFamily="34" charset="0"/>
                <a:ea typeface="Helvetica Neue" pitchFamily="34" charset="-122"/>
                <a:cs typeface="Helvetica Neue"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238"/>
        </a:solidFill>
      </p:bgPr>
    </p:bg>
    <p:spTree>
      <p:nvGrpSpPr>
        <p:cNvPr id="1" name=""/>
        <p:cNvGrpSpPr/>
        <p:nvPr/>
      </p:nvGrpSpPr>
      <p:grpSpPr>
        <a:xfrm>
          <a:off x="0" y="0"/>
          <a:ext cx="0" cy="0"/>
          <a:chOff x="0" y="0"/>
          <a:chExt cx="0" cy="0"/>
        </a:xfrm>
      </p:grpSpPr>
      <p:sp>
        <p:nvSpPr>
          <p:cNvPr id="2" name="Shape 0"/>
          <p:cNvSpPr/>
          <p:nvPr/>
        </p:nvSpPr>
        <p:spPr>
          <a:xfrm>
            <a:off x="0" y="4983480"/>
            <a:ext cx="9144000" cy="164592"/>
          </a:xfrm>
          <a:prstGeom prst="rect">
            <a:avLst/>
          </a:prstGeom>
          <a:solidFill>
            <a:srgbClr val="FF6B5C"/>
          </a:solidFill>
          <a:ln w="12700">
            <a:solidFill>
              <a:srgbClr val="FF6B5C"/>
            </a:solidFill>
            <a:prstDash val="solid"/>
          </a:ln>
        </p:spPr>
      </p:sp>
      <p:sp>
        <p:nvSpPr>
          <p:cNvPr id="3" name="Text 1"/>
          <p:cNvSpPr/>
          <p:nvPr/>
        </p:nvSpPr>
        <p:spPr>
          <a:xfrm>
            <a:off x="640080" y="1645920"/>
            <a:ext cx="8229600" cy="1371600"/>
          </a:xfrm>
          <a:prstGeom prst="rect">
            <a:avLst/>
          </a:prstGeom>
          <a:noFill/>
          <a:ln/>
        </p:spPr>
        <p:txBody>
          <a:bodyPr wrap="square" lIns="0" tIns="0" rIns="0" bIns="0" rtlCol="0" anchor="ctr"/>
          <a:lstStyle/>
          <a:p>
            <a:pPr indent="0" marL="0">
              <a:buNone/>
            </a:pPr>
            <a:r>
              <a:rPr lang="en-US" sz="7200" b="1" i="1" dirty="0">
                <a:solidFill>
                  <a:srgbClr val="FFFFFF"/>
                </a:solidFill>
                <a:latin typeface="Georgia" pitchFamily="34" charset="0"/>
                <a:ea typeface="Georgia" pitchFamily="34" charset="-122"/>
                <a:cs typeface="Georgia" pitchFamily="34" charset="-120"/>
              </a:rPr>
              <a:t>Thank you.</a:t>
            </a:r>
            <a:endParaRPr lang="en-US" sz="7200" dirty="0"/>
          </a:p>
        </p:txBody>
      </p:sp>
      <p:sp>
        <p:nvSpPr>
          <p:cNvPr id="4" name="Shape 2"/>
          <p:cNvSpPr/>
          <p:nvPr/>
        </p:nvSpPr>
        <p:spPr>
          <a:xfrm>
            <a:off x="640080" y="3017520"/>
            <a:ext cx="731520" cy="45720"/>
          </a:xfrm>
          <a:prstGeom prst="rect">
            <a:avLst/>
          </a:prstGeom>
          <a:solidFill>
            <a:srgbClr val="FF6B5C"/>
          </a:solidFill>
          <a:ln w="12700">
            <a:solidFill>
              <a:srgbClr val="FF6B5C"/>
            </a:solidFill>
            <a:prstDash val="solid"/>
          </a:ln>
        </p:spPr>
      </p:sp>
      <p:sp>
        <p:nvSpPr>
          <p:cNvPr id="5" name="Text 3"/>
          <p:cNvSpPr/>
          <p:nvPr/>
        </p:nvSpPr>
        <p:spPr>
          <a:xfrm>
            <a:off x="640080" y="3154680"/>
            <a:ext cx="7315200" cy="457200"/>
          </a:xfrm>
          <a:prstGeom prst="rect">
            <a:avLst/>
          </a:prstGeom>
          <a:noFill/>
          <a:ln/>
        </p:spPr>
        <p:txBody>
          <a:bodyPr wrap="square" lIns="0" tIns="0" rIns="0" bIns="0" rtlCol="0" anchor="ctr"/>
          <a:lstStyle/>
          <a:p>
            <a:pPr indent="0" marL="0">
              <a:buNone/>
            </a:pPr>
            <a:r>
              <a:rPr lang="en-US" sz="2200" i="1" dirty="0">
                <a:solidFill>
                  <a:srgbClr val="B6BAC8"/>
                </a:solidFill>
                <a:latin typeface="Georgia" pitchFamily="34" charset="0"/>
                <a:ea typeface="Georgia" pitchFamily="34" charset="-122"/>
                <a:cs typeface="Georgia" pitchFamily="34" charset="-120"/>
              </a:rPr>
              <a:t>Questions?</a:t>
            </a:r>
            <a:endParaRPr lang="en-US" sz="2200" dirty="0"/>
          </a:p>
        </p:txBody>
      </p:sp>
      <p:sp>
        <p:nvSpPr>
          <p:cNvPr id="6" name="Text 4"/>
          <p:cNvSpPr/>
          <p:nvPr/>
        </p:nvSpPr>
        <p:spPr>
          <a:xfrm>
            <a:off x="640080" y="4709160"/>
            <a:ext cx="7315200" cy="228600"/>
          </a:xfrm>
          <a:prstGeom prst="rect">
            <a:avLst/>
          </a:prstGeom>
          <a:noFill/>
          <a:ln/>
        </p:spPr>
        <p:txBody>
          <a:bodyPr wrap="square" lIns="0" tIns="0" rIns="0" bIns="0" rtlCol="0" anchor="ctr"/>
          <a:lstStyle/>
          <a:p>
            <a:pPr indent="0" marL="0">
              <a:buNone/>
            </a:pPr>
            <a:r>
              <a:rPr lang="en-US" sz="1000" b="1" spc="400" kern="0" dirty="0">
                <a:solidFill>
                  <a:srgbClr val="FFFFFF"/>
                </a:solidFill>
                <a:latin typeface="Helvetica Neue" pitchFamily="34" charset="0"/>
                <a:ea typeface="Helvetica Neue" pitchFamily="34" charset="-122"/>
                <a:cs typeface="Helvetica Neue" pitchFamily="34" charset="-120"/>
              </a:rPr>
              <a:t>[ PRESENTER NAME ]  ·  [ EMAIL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Walmart Production Readiness — Port</dc:title>
  <dc:subject>PptxGenJS Presentation</dc:subject>
  <dc:creator>Kaylah Gore</dc:creator>
  <cp:lastModifiedBy>Kaylah Gore</cp:lastModifiedBy>
  <cp:revision>1</cp:revision>
  <dcterms:created xsi:type="dcterms:W3CDTF">2026-05-18T16:38:24Z</dcterms:created>
  <dcterms:modified xsi:type="dcterms:W3CDTF">2026-05-18T16:38:24Z</dcterms:modified>
</cp:coreProperties>
</file>